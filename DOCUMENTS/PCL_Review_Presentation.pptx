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258" r:id="rId3"/>
    <p:sldId id="259" r:id="rId4"/>
    <p:sldId id="261" r:id="rId5"/>
    <p:sldId id="319" r:id="rId6"/>
    <p:sldId id="271" r:id="rId7"/>
    <p:sldId id="272" r:id="rId8"/>
    <p:sldId id="273" r:id="rId9"/>
    <p:sldId id="310" r:id="rId10"/>
    <p:sldId id="311" r:id="rId11"/>
    <p:sldId id="312" r:id="rId12"/>
    <p:sldId id="274" r:id="rId13"/>
    <p:sldId id="275" r:id="rId14"/>
    <p:sldId id="307" r:id="rId15"/>
    <p:sldId id="277" r:id="rId16"/>
    <p:sldId id="279" r:id="rId17"/>
    <p:sldId id="318" r:id="rId18"/>
    <p:sldId id="270" r:id="rId19"/>
    <p:sldId id="283" r:id="rId20"/>
    <p:sldId id="282" r:id="rId21"/>
    <p:sldId id="320" r:id="rId22"/>
    <p:sldId id="286" r:id="rId23"/>
    <p:sldId id="315" r:id="rId24"/>
    <p:sldId id="284" r:id="rId25"/>
    <p:sldId id="295" r:id="rId26"/>
    <p:sldId id="313" r:id="rId27"/>
    <p:sldId id="314" r:id="rId28"/>
    <p:sldId id="317" r:id="rId29"/>
    <p:sldId id="306"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1" autoAdjust="0"/>
    <p:restoredTop sz="94660"/>
  </p:normalViewPr>
  <p:slideViewPr>
    <p:cSldViewPr>
      <p:cViewPr varScale="1">
        <p:scale>
          <a:sx n="81" d="100"/>
          <a:sy n="81" d="100"/>
        </p:scale>
        <p:origin x="131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27C600C-C61D-4B2A-A47B-586CFA6FEEA2}" type="datetimeFigureOut">
              <a:rPr lang="en-US" smtClean="0"/>
              <a:t>4/27/2026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042F2E9-BF7E-476D-A34F-8138ADC11BB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143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062319A-84B9-4940-89CF-EF417369B253}" type="slidenum">
              <a:rPr lang="en-US" smtClean="0">
                <a:latin typeface="Arial" charset="0"/>
                <a:cs typeface="Arial" charset="0"/>
              </a:rPr>
              <a:pPr/>
              <a:t>1</a:t>
            </a:fld>
            <a:endParaRPr lang="en-US">
              <a:latin typeface="Arial" charset="0"/>
              <a:cs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042F2E9-BF7E-476D-A34F-8138ADC11BBA}" type="slidenum">
              <a:rPr lang="en-US" smtClean="0"/>
              <a:t>13</a:t>
            </a:fld>
            <a:endParaRPr lang="en-US"/>
          </a:p>
        </p:txBody>
      </p:sp>
    </p:spTree>
    <p:extLst>
      <p:ext uri="{BB962C8B-B14F-4D97-AF65-F5344CB8AC3E}">
        <p14:creationId xmlns:p14="http://schemas.microsoft.com/office/powerpoint/2010/main" val="1332688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6A8E753-104F-41EE-8906-46A17B9DDA30}"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A8E753-104F-41EE-8906-46A17B9DDA30}"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A8E753-104F-41EE-8906-46A17B9DDA30}"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6A8E753-104F-41EE-8906-46A17B9DDA30}"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6A8E753-104F-41EE-8906-46A17B9DDA30}" type="datetimeFigureOut">
              <a:rPr lang="en-US" smtClean="0"/>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A8E753-104F-41EE-8906-46A17B9DDA30}"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A8E753-104F-41EE-8906-46A17B9DDA30}" type="datetimeFigureOut">
              <a:rPr lang="en-US" smtClean="0"/>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A8E753-104F-41EE-8906-46A17B9DDA30}"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A8E753-104F-41EE-8906-46A17B9DDA30}"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A8E753-104F-41EE-8906-46A17B9DDA30}"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A8E753-104F-41EE-8906-46A17B9DDA30}"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A8E753-104F-41EE-8906-46A17B9DDA30}" type="datetimeFigureOut">
              <a:rPr lang="en-US" smtClean="0"/>
              <a:t>4/27/2026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C3E942-B799-4BB5-B3B7-FBA5C48072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vscode-file://vscode-app/c:/Program%20Files/Microsoft%20VS%20Code/c3a26841a8/resources/app/out/vs/code/electron-browser/workbench/workbench.html"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hyperlink" Target="https://doi.org/10.1109/INDICON59947.2023.10440856"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11"/>
          <p:cNvSpPr>
            <a:spLocks noChangeArrowheads="1"/>
          </p:cNvSpPr>
          <p:nvPr/>
        </p:nvSpPr>
        <p:spPr bwMode="auto">
          <a:xfrm>
            <a:off x="2476499" y="5591621"/>
            <a:ext cx="4191000" cy="1107996"/>
          </a:xfrm>
          <a:prstGeom prst="rect">
            <a:avLst/>
          </a:prstGeom>
          <a:noFill/>
          <a:ln w="9525">
            <a:noFill/>
            <a:miter lim="800000"/>
            <a:headEnd/>
            <a:tailEnd/>
          </a:ln>
        </p:spPr>
        <p:txBody>
          <a:bodyPr wrap="square">
            <a:spAutoFit/>
          </a:bodyPr>
          <a:lstStyle/>
          <a:p>
            <a:pPr algn="ctr" eaLnBrk="0" hangingPunct="0"/>
            <a:r>
              <a:rPr lang="en-US" sz="2200" b="1" dirty="0">
                <a:latin typeface="Times New Roman" pitchFamily="18" charset="0"/>
                <a:cs typeface="Times New Roman" pitchFamily="18" charset="0"/>
              </a:rPr>
              <a:t>Guided By,</a:t>
            </a:r>
          </a:p>
          <a:p>
            <a:pPr algn="ctr" eaLnBrk="0" hangingPunct="0"/>
            <a:r>
              <a:rPr lang="en-US" sz="2200" b="1" dirty="0">
                <a:latin typeface="Times New Roman" pitchFamily="18" charset="0"/>
                <a:cs typeface="Times New Roman" pitchFamily="18" charset="0"/>
              </a:rPr>
              <a:t>Dr. </a:t>
            </a:r>
            <a:r>
              <a:rPr lang="en-US" sz="2200" b="1" dirty="0" err="1">
                <a:latin typeface="Times New Roman" pitchFamily="18" charset="0"/>
                <a:cs typeface="Times New Roman" pitchFamily="18" charset="0"/>
              </a:rPr>
              <a:t>Sugumar</a:t>
            </a:r>
            <a:r>
              <a:rPr lang="en-US" sz="2200" b="1" dirty="0">
                <a:latin typeface="Times New Roman" pitchFamily="18" charset="0"/>
                <a:cs typeface="Times New Roman" pitchFamily="18" charset="0"/>
              </a:rPr>
              <a:t> R, </a:t>
            </a:r>
          </a:p>
          <a:p>
            <a:pPr algn="ctr" eaLnBrk="0" hangingPunct="0"/>
            <a:r>
              <a:rPr lang="en-US" sz="2200" b="1" dirty="0">
                <a:latin typeface="Times New Roman" pitchFamily="18" charset="0"/>
                <a:cs typeface="Times New Roman" pitchFamily="18" charset="0"/>
              </a:rPr>
              <a:t>Associate Professor / CSE- AIML</a:t>
            </a:r>
          </a:p>
        </p:txBody>
      </p:sp>
      <p:sp>
        <p:nvSpPr>
          <p:cNvPr id="2054" name="Rectangle 11"/>
          <p:cNvSpPr>
            <a:spLocks noChangeArrowheads="1"/>
          </p:cNvSpPr>
          <p:nvPr/>
        </p:nvSpPr>
        <p:spPr bwMode="auto">
          <a:xfrm>
            <a:off x="1371600" y="2590800"/>
            <a:ext cx="6324600" cy="3508653"/>
          </a:xfrm>
          <a:prstGeom prst="rect">
            <a:avLst/>
          </a:prstGeom>
          <a:noFill/>
          <a:ln w="9525">
            <a:noFill/>
            <a:miter lim="800000"/>
            <a:headEnd/>
            <a:tailEnd/>
          </a:ln>
        </p:spPr>
        <p:txBody>
          <a:bodyPr wrap="square">
            <a:spAutoFit/>
          </a:bodyPr>
          <a:lstStyle/>
          <a:p>
            <a:pPr algn="ctr" eaLnBrk="0" hangingPunct="0">
              <a:lnSpc>
                <a:spcPct val="150000"/>
              </a:lnSpc>
            </a:pPr>
            <a:r>
              <a:rPr lang="en-US" sz="2000" b="1" dirty="0">
                <a:solidFill>
                  <a:schemeClr val="accent1">
                    <a:lumMod val="75000"/>
                  </a:schemeClr>
                </a:solidFill>
                <a:latin typeface="Times New Roman" pitchFamily="18" charset="0"/>
                <a:cs typeface="Times New Roman" pitchFamily="18" charset="0"/>
              </a:rPr>
              <a:t>AI Automated Vehicle Insurance Estimation System with damage assessor</a:t>
            </a:r>
          </a:p>
          <a:p>
            <a:pPr algn="ctr" eaLnBrk="0" hangingPunct="0">
              <a:lnSpc>
                <a:spcPct val="150000"/>
              </a:lnSpc>
            </a:pPr>
            <a:endParaRPr lang="en-US" b="1" dirty="0">
              <a:latin typeface="Times New Roman" pitchFamily="18" charset="0"/>
              <a:cs typeface="Times New Roman" pitchFamily="18" charset="0"/>
            </a:endParaRPr>
          </a:p>
          <a:p>
            <a:pPr algn="ctr" eaLnBrk="0" hangingPunct="0">
              <a:lnSpc>
                <a:spcPct val="150000"/>
              </a:lnSpc>
            </a:pPr>
            <a:r>
              <a:rPr lang="en-US" b="1" dirty="0">
                <a:latin typeface="Times New Roman" pitchFamily="18" charset="0"/>
                <a:cs typeface="Times New Roman" pitchFamily="18" charset="0"/>
              </a:rPr>
              <a:t>Presentation By,</a:t>
            </a:r>
          </a:p>
          <a:p>
            <a:pPr algn="ctr" eaLnBrk="0" hangingPunct="0"/>
            <a:r>
              <a:rPr lang="en-US" b="1" dirty="0">
                <a:solidFill>
                  <a:srgbClr val="FF0066"/>
                </a:solidFill>
                <a:latin typeface="Times New Roman" pitchFamily="18" charset="0"/>
                <a:cs typeface="Times New Roman" pitchFamily="18" charset="0"/>
              </a:rPr>
              <a:t>    Mahanidhi GK (23BTRCL139)</a:t>
            </a:r>
          </a:p>
          <a:p>
            <a:pPr algn="ctr" eaLnBrk="0" hangingPunct="0"/>
            <a:r>
              <a:rPr lang="en-US" b="1" dirty="0">
                <a:solidFill>
                  <a:srgbClr val="FF0066"/>
                </a:solidFill>
                <a:latin typeface="Times New Roman" pitchFamily="18" charset="0"/>
                <a:cs typeface="Times New Roman" pitchFamily="18" charset="0"/>
              </a:rPr>
              <a:t>    Mohammed Sohail (23BTRCL101)</a:t>
            </a:r>
          </a:p>
          <a:p>
            <a:pPr algn="ctr" eaLnBrk="0" hangingPunct="0"/>
            <a:r>
              <a:rPr lang="en-US" b="1" dirty="0">
                <a:solidFill>
                  <a:srgbClr val="FF0066"/>
                </a:solidFill>
                <a:latin typeface="Times New Roman" pitchFamily="18" charset="0"/>
                <a:cs typeface="Times New Roman" pitchFamily="18" charset="0"/>
              </a:rPr>
              <a:t>    </a:t>
            </a:r>
            <a:r>
              <a:rPr lang="en-US" b="1">
                <a:solidFill>
                  <a:srgbClr val="FF0066"/>
                </a:solidFill>
                <a:latin typeface="Times New Roman" pitchFamily="18" charset="0"/>
                <a:cs typeface="Times New Roman" pitchFamily="18" charset="0"/>
              </a:rPr>
              <a:t>Mohammed Ismail </a:t>
            </a:r>
            <a:r>
              <a:rPr lang="en-US" b="1" dirty="0">
                <a:solidFill>
                  <a:srgbClr val="FF0066"/>
                </a:solidFill>
                <a:latin typeface="Times New Roman" pitchFamily="18" charset="0"/>
                <a:cs typeface="Times New Roman" pitchFamily="18" charset="0"/>
              </a:rPr>
              <a:t>(23BTRCL152)</a:t>
            </a:r>
          </a:p>
          <a:p>
            <a:pPr algn="ctr" eaLnBrk="0" hangingPunct="0"/>
            <a:r>
              <a:rPr lang="en-US" b="1" dirty="0">
                <a:solidFill>
                  <a:srgbClr val="FF0066"/>
                </a:solidFill>
                <a:latin typeface="Times New Roman" pitchFamily="18" charset="0"/>
                <a:cs typeface="Times New Roman" pitchFamily="18" charset="0"/>
              </a:rPr>
              <a:t>    Mohamed Ajmal(23BTRCL005)</a:t>
            </a:r>
          </a:p>
          <a:p>
            <a:pPr algn="just" eaLnBrk="0" hangingPunct="0"/>
            <a:r>
              <a:rPr lang="en-US" b="1" dirty="0">
                <a:solidFill>
                  <a:srgbClr val="FF0066"/>
                </a:solidFill>
                <a:latin typeface="Times New Roman" pitchFamily="18" charset="0"/>
                <a:cs typeface="Times New Roman" pitchFamily="18" charset="0"/>
              </a:rPr>
              <a:t>    </a:t>
            </a:r>
          </a:p>
          <a:p>
            <a:pPr algn="just" eaLnBrk="0" hangingPunct="0"/>
            <a:r>
              <a:rPr lang="en-US" b="1" dirty="0">
                <a:solidFill>
                  <a:srgbClr val="FF0066"/>
                </a:solidFill>
                <a:latin typeface="Times New Roman" pitchFamily="18" charset="0"/>
                <a:cs typeface="Times New Roman" pitchFamily="18" charset="0"/>
              </a:rPr>
              <a:t>    </a:t>
            </a:r>
          </a:p>
        </p:txBody>
      </p:sp>
      <p:pic>
        <p:nvPicPr>
          <p:cNvPr id="2" name="Picture 1">
            <a:extLst>
              <a:ext uri="{FF2B5EF4-FFF2-40B4-BE49-F238E27FC236}">
                <a16:creationId xmlns:a16="http://schemas.microsoft.com/office/drawing/2014/main" id="{EF300F88-2DC9-A926-41D1-EF2F29375A7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4394" y="304800"/>
            <a:ext cx="8315211" cy="1226185"/>
          </a:xfrm>
          <a:prstGeom prst="rect">
            <a:avLst/>
          </a:prstGeom>
          <a:noFill/>
          <a:ln>
            <a:noFill/>
          </a:ln>
        </p:spPr>
      </p:pic>
      <p:sp>
        <p:nvSpPr>
          <p:cNvPr id="3" name="TextBox 2">
            <a:extLst>
              <a:ext uri="{FF2B5EF4-FFF2-40B4-BE49-F238E27FC236}">
                <a16:creationId xmlns:a16="http://schemas.microsoft.com/office/drawing/2014/main" id="{7924AACE-95EA-223E-D161-FDFF35E65F8E}"/>
              </a:ext>
            </a:extLst>
          </p:cNvPr>
          <p:cNvSpPr txBox="1"/>
          <p:nvPr/>
        </p:nvSpPr>
        <p:spPr>
          <a:xfrm>
            <a:off x="3581399" y="2037671"/>
            <a:ext cx="1981200" cy="430887"/>
          </a:xfrm>
          <a:prstGeom prst="rect">
            <a:avLst/>
          </a:prstGeom>
          <a:noFill/>
        </p:spPr>
        <p:txBody>
          <a:bodyPr wrap="square" rtlCol="0">
            <a:spAutoFit/>
          </a:bodyPr>
          <a:lstStyle/>
          <a:p>
            <a:pPr algn="ctr"/>
            <a:r>
              <a:rPr lang="en-IN" sz="2200" b="1" dirty="0">
                <a:latin typeface="Times New Roman" pitchFamily="18" charset="0"/>
                <a:cs typeface="Times New Roman" pitchFamily="18" charset="0"/>
              </a:rPr>
              <a:t>Team No. 45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latin typeface="Times New Roman" pitchFamily="18" charset="0"/>
                <a:cs typeface="Times New Roman" pitchFamily="18" charset="0"/>
              </a:rPr>
            </a:br>
            <a:r>
              <a:rPr lang="en-US" b="1" dirty="0">
                <a:latin typeface="Times New Roman" pitchFamily="18" charset="0"/>
                <a:cs typeface="Times New Roman" pitchFamily="18" charset="0"/>
              </a:rPr>
              <a:t>CONTENTS</a:t>
            </a:r>
            <a:br>
              <a:rPr lang="en-US" b="1" dirty="0">
                <a:latin typeface="Book Antiqua" pitchFamily="18" charset="0"/>
              </a:rPr>
            </a:br>
            <a:endParaRPr lang="en-US" dirty="0"/>
          </a:p>
        </p:txBody>
      </p:sp>
      <p:sp>
        <p:nvSpPr>
          <p:cNvPr id="3" name="Content Placeholder 2"/>
          <p:cNvSpPr>
            <a:spLocks noGrp="1"/>
          </p:cNvSpPr>
          <p:nvPr>
            <p:ph idx="1"/>
          </p:nvPr>
        </p:nvSpPr>
        <p:spPr/>
        <p:txBody>
          <a:bodyPr>
            <a:normAutofit fontScale="70000" lnSpcReduction="20000"/>
          </a:bodyPr>
          <a:lstStyle/>
          <a:p>
            <a:pPr>
              <a:lnSpc>
                <a:spcPct val="150000"/>
              </a:lnSpc>
              <a:buFont typeface="Wingdings" pitchFamily="2" charset="2"/>
              <a:buChar char="v"/>
            </a:pPr>
            <a:r>
              <a:rPr lang="en-US" sz="2800" b="1" dirty="0">
                <a:solidFill>
                  <a:schemeClr val="tx1">
                    <a:lumMod val="75000"/>
                    <a:lumOff val="25000"/>
                  </a:schemeClr>
                </a:solidFill>
                <a:latin typeface="Book Antiqua" pitchFamily="18" charset="0"/>
                <a:cs typeface="Times New Roman" pitchFamily="18" charset="0"/>
              </a:rPr>
              <a:t>Abstract</a:t>
            </a:r>
          </a:p>
          <a:p>
            <a:pPr>
              <a:lnSpc>
                <a:spcPct val="150000"/>
              </a:lnSpc>
              <a:buFont typeface="Wingdings" pitchFamily="2" charset="2"/>
              <a:buChar char="v"/>
            </a:pPr>
            <a:r>
              <a:rPr lang="en-US" sz="2800" b="1" dirty="0">
                <a:solidFill>
                  <a:schemeClr val="tx1">
                    <a:lumMod val="75000"/>
                    <a:lumOff val="25000"/>
                  </a:schemeClr>
                </a:solidFill>
                <a:latin typeface="Book Antiqua" pitchFamily="18" charset="0"/>
                <a:cs typeface="Times New Roman" pitchFamily="18" charset="0"/>
              </a:rPr>
              <a:t>Introduction</a:t>
            </a:r>
          </a:p>
          <a:p>
            <a:pPr>
              <a:lnSpc>
                <a:spcPct val="150000"/>
              </a:lnSpc>
              <a:buFont typeface="Wingdings" pitchFamily="2" charset="2"/>
              <a:buChar char="v"/>
            </a:pPr>
            <a:r>
              <a:rPr lang="en-US" sz="2800" b="1" dirty="0">
                <a:solidFill>
                  <a:schemeClr val="tx1">
                    <a:lumMod val="75000"/>
                    <a:lumOff val="25000"/>
                  </a:schemeClr>
                </a:solidFill>
                <a:latin typeface="Book Antiqua" pitchFamily="18" charset="0"/>
                <a:cs typeface="Times New Roman" pitchFamily="18" charset="0"/>
              </a:rPr>
              <a:t>System requirement </a:t>
            </a:r>
          </a:p>
          <a:p>
            <a:pPr>
              <a:lnSpc>
                <a:spcPct val="150000"/>
              </a:lnSpc>
              <a:buFont typeface="Wingdings" pitchFamily="2" charset="2"/>
              <a:buChar char="v"/>
            </a:pPr>
            <a:r>
              <a:rPr lang="en-US" sz="2800" b="1" dirty="0">
                <a:solidFill>
                  <a:schemeClr val="tx1">
                    <a:lumMod val="75000"/>
                    <a:lumOff val="25000"/>
                  </a:schemeClr>
                </a:solidFill>
                <a:latin typeface="Book Antiqua" pitchFamily="18" charset="0"/>
                <a:cs typeface="Times New Roman" pitchFamily="18" charset="0"/>
              </a:rPr>
              <a:t>Literature Survey</a:t>
            </a:r>
          </a:p>
          <a:p>
            <a:pPr>
              <a:lnSpc>
                <a:spcPct val="150000"/>
              </a:lnSpc>
              <a:buFont typeface="Wingdings" pitchFamily="2" charset="2"/>
              <a:buChar char="v"/>
            </a:pPr>
            <a:r>
              <a:rPr lang="en-US" sz="2800" b="1" dirty="0">
                <a:solidFill>
                  <a:schemeClr val="tx1">
                    <a:lumMod val="75000"/>
                    <a:lumOff val="25000"/>
                  </a:schemeClr>
                </a:solidFill>
                <a:latin typeface="Book Antiqua" pitchFamily="18" charset="0"/>
                <a:cs typeface="Times New Roman" pitchFamily="18" charset="0"/>
              </a:rPr>
              <a:t>Existing system</a:t>
            </a:r>
          </a:p>
          <a:p>
            <a:pPr>
              <a:lnSpc>
                <a:spcPct val="150000"/>
              </a:lnSpc>
              <a:buFont typeface="Wingdings" pitchFamily="2" charset="2"/>
              <a:buChar char="v"/>
            </a:pPr>
            <a:r>
              <a:rPr lang="en-US" sz="2800" b="1" dirty="0">
                <a:solidFill>
                  <a:schemeClr val="tx1">
                    <a:lumMod val="75000"/>
                    <a:lumOff val="25000"/>
                  </a:schemeClr>
                </a:solidFill>
                <a:latin typeface="Book Antiqua" pitchFamily="18" charset="0"/>
                <a:cs typeface="Times New Roman" pitchFamily="18" charset="0"/>
              </a:rPr>
              <a:t>Block diagram</a:t>
            </a:r>
          </a:p>
          <a:p>
            <a:pPr>
              <a:lnSpc>
                <a:spcPct val="150000"/>
              </a:lnSpc>
              <a:buFont typeface="Wingdings" pitchFamily="2" charset="2"/>
              <a:buChar char="v"/>
            </a:pPr>
            <a:r>
              <a:rPr lang="en-US" sz="2800" b="1" dirty="0">
                <a:solidFill>
                  <a:schemeClr val="tx1">
                    <a:lumMod val="75000"/>
                    <a:lumOff val="25000"/>
                  </a:schemeClr>
                </a:solidFill>
                <a:latin typeface="Book Antiqua" pitchFamily="18" charset="0"/>
                <a:cs typeface="Times New Roman" pitchFamily="18" charset="0"/>
              </a:rPr>
              <a:t>Proposed System </a:t>
            </a:r>
          </a:p>
          <a:p>
            <a:pPr>
              <a:lnSpc>
                <a:spcPct val="150000"/>
              </a:lnSpc>
              <a:buFont typeface="Wingdings" pitchFamily="2" charset="2"/>
              <a:buChar char="v"/>
            </a:pPr>
            <a:r>
              <a:rPr lang="en-US" sz="2800" b="1" dirty="0">
                <a:solidFill>
                  <a:schemeClr val="tx1">
                    <a:lumMod val="75000"/>
                    <a:lumOff val="25000"/>
                  </a:schemeClr>
                </a:solidFill>
                <a:latin typeface="Book Antiqua" pitchFamily="18" charset="0"/>
                <a:cs typeface="Times New Roman" pitchFamily="18" charset="0"/>
              </a:rPr>
              <a:t>Conclusion</a:t>
            </a:r>
          </a:p>
          <a:p>
            <a:pPr>
              <a:lnSpc>
                <a:spcPct val="150000"/>
              </a:lnSpc>
              <a:buFont typeface="Wingdings" pitchFamily="2" charset="2"/>
              <a:buChar char="v"/>
            </a:pPr>
            <a:r>
              <a:rPr lang="en-US" sz="2800" b="1" dirty="0">
                <a:solidFill>
                  <a:schemeClr val="tx1">
                    <a:lumMod val="75000"/>
                    <a:lumOff val="25000"/>
                  </a:schemeClr>
                </a:solidFill>
                <a:latin typeface="Book Antiqua" pitchFamily="18" charset="0"/>
                <a:cs typeface="Times New Roman" pitchFamily="18" charset="0"/>
              </a:rPr>
              <a:t>References</a:t>
            </a:r>
          </a:p>
          <a:p>
            <a:pPr>
              <a:buNone/>
            </a:pPr>
            <a:endParaRPr lang="en-US" b="1" dirty="0">
              <a:solidFill>
                <a:schemeClr val="tx2">
                  <a:lumMod val="60000"/>
                  <a:lumOff val="40000"/>
                </a:schemeClr>
              </a:solidFill>
              <a:latin typeface="Book Antiqua" pitchFamily="18" charset="0"/>
              <a:cs typeface="Times New Roman" pitchFamily="18" charset="0"/>
            </a:endParaRPr>
          </a:p>
          <a:p>
            <a:pPr>
              <a:buNone/>
            </a:pPr>
            <a:endParaRPr lang="en-US" b="1" dirty="0">
              <a:solidFill>
                <a:schemeClr val="tx2">
                  <a:lumMod val="60000"/>
                  <a:lumOff val="40000"/>
                </a:schemeClr>
              </a:solidFill>
              <a:latin typeface="Book Antiqua"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485" y="38100"/>
            <a:ext cx="8229600" cy="1143000"/>
          </a:xfrm>
        </p:spPr>
        <p:txBody>
          <a:bodyPr/>
          <a:lstStyle/>
          <a:p>
            <a:r>
              <a:rPr lang="en-US"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457200" y="1143000"/>
            <a:ext cx="8229600" cy="5105400"/>
          </a:xfrm>
        </p:spPr>
        <p:txBody>
          <a:bodyPr>
            <a:noAutofit/>
          </a:bodyPr>
          <a:lstStyle/>
          <a:p>
            <a:pPr marL="0" indent="0" algn="l">
              <a:buNone/>
            </a:pPr>
            <a:r>
              <a:rPr lang="en-US" sz="2200" b="0" i="0" u="none" strike="noStrike" baseline="0" dirty="0">
                <a:latin typeface="Times New Roman" panose="02020603050405020304" pitchFamily="18" charset="0"/>
                <a:cs typeface="Times New Roman" panose="02020603050405020304" pitchFamily="18" charset="0"/>
              </a:rPr>
              <a:t>With advancements in computer vision and machine learning, it is now possible to automate much of this assessment pipeline. Deep learning models, particularly Convolutional Neural Networks (CNNs), have demonstrated the ability to </a:t>
            </a:r>
            <a:r>
              <a:rPr lang="en-US" sz="2200" b="0" i="0" u="none" strike="noStrike" baseline="0" dirty="0" err="1">
                <a:latin typeface="Times New Roman" panose="02020603050405020304" pitchFamily="18" charset="0"/>
                <a:cs typeface="Times New Roman" panose="02020603050405020304" pitchFamily="18" charset="0"/>
              </a:rPr>
              <a:t>analyse</a:t>
            </a:r>
            <a:r>
              <a:rPr lang="en-US" sz="2200" b="0" i="0" u="none" strike="noStrike" baseline="0" dirty="0">
                <a:latin typeface="Times New Roman" panose="02020603050405020304" pitchFamily="18" charset="0"/>
                <a:cs typeface="Times New Roman" panose="02020603050405020304" pitchFamily="18" charset="0"/>
              </a:rPr>
              <a:t> vehicle images and detect damage with accuracy comparable to trained human assessors. Simultaneously, ensemble machine learning models can predict claim amounts by learning patterns from historical insurance data. Combining these two technologies — image-based damage detection and data-driven claim estimation — into a single integrated system can drastically reduce assessment time, improve consistency, and bring transparency to the claims process. This project proposes such a system, using MobileNetV2 for transfer learning-based damage detection and a Random Forest Regressor for claim amount prediction, deployed as an accessible web application using </a:t>
            </a:r>
            <a:r>
              <a:rPr lang="en-US" sz="2200" b="0" i="0" u="none" strike="noStrike" baseline="0" dirty="0" err="1">
                <a:latin typeface="Times New Roman" panose="02020603050405020304" pitchFamily="18" charset="0"/>
                <a:cs typeface="Times New Roman" panose="02020603050405020304" pitchFamily="18" charset="0"/>
              </a:rPr>
              <a:t>Streamlit</a:t>
            </a:r>
            <a:r>
              <a:rPr lang="en-US" sz="2200" b="0" i="0" u="none" strike="noStrike" baseline="0" dirty="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5777" y="152400"/>
            <a:ext cx="8229600" cy="1143000"/>
          </a:xfrm>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396711" y="1066800"/>
            <a:ext cx="8229600" cy="4525963"/>
          </a:xfrm>
        </p:spPr>
        <p:txBody>
          <a:bodyPr>
            <a:noAutofit/>
          </a:bodyPr>
          <a:lstStyle/>
          <a:p>
            <a:pPr algn="l"/>
            <a:endParaRPr lang="en-IN" sz="1800" b="0" i="0" u="none" strike="noStrike" baseline="0" dirty="0">
              <a:solidFill>
                <a:srgbClr val="000000"/>
              </a:solidFill>
              <a:latin typeface="Times New Roman" panose="02020603050405020304" pitchFamily="18" charset="0"/>
            </a:endParaRPr>
          </a:p>
          <a:p>
            <a:pPr marL="0" indent="0">
              <a:buNone/>
            </a:pPr>
            <a:r>
              <a:rPr lang="en-US" sz="2500" b="0" i="0" u="none" strike="noStrike" baseline="0" dirty="0">
                <a:solidFill>
                  <a:srgbClr val="000000"/>
                </a:solidFill>
                <a:latin typeface="Times New Roman" panose="02020603050405020304" pitchFamily="18" charset="0"/>
              </a:rPr>
              <a:t>With the increasing automation in today's world, the need for intelligent systems that can assess physical damage and make financial decisions from visual data has grown exponentially. Be it processing motor insurance claims, evaluating accident severity, or estimating vehicle repair costs, automated damage assessment is becoming a critical capability across the insurance and automotive industries. Traditional methods for vehicle damage evaluation rely on manual inspection by licensed surveyors, which are accurate in controlled settings but no longer compatible with today's high-volume, fast-turnaround demands, as insurance companies process thousands of claims daily and physical inspection of every vehicle introduces significant delays. </a:t>
            </a:r>
            <a:endParaRPr lang="en-US" sz="2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331484-CDC5-6C57-BD88-DDA1DA790460}"/>
              </a:ext>
            </a:extLst>
          </p:cNvPr>
          <p:cNvSpPr>
            <a:spLocks noGrp="1"/>
          </p:cNvSpPr>
          <p:nvPr>
            <p:ph idx="1"/>
          </p:nvPr>
        </p:nvSpPr>
        <p:spPr>
          <a:xfrm>
            <a:off x="152400" y="152400"/>
            <a:ext cx="8229600" cy="4525963"/>
          </a:xfrm>
        </p:spPr>
        <p:txBody>
          <a:bodyPr>
            <a:normAutofit/>
          </a:bodyPr>
          <a:lstStyle/>
          <a:p>
            <a:pPr marL="0" indent="0">
              <a:buNone/>
            </a:pPr>
            <a:r>
              <a:rPr lang="en-US" sz="2500" dirty="0">
                <a:solidFill>
                  <a:srgbClr val="000000"/>
                </a:solidFill>
                <a:latin typeface="Times New Roman" panose="02020603050405020304" pitchFamily="18" charset="0"/>
              </a:rPr>
              <a:t>These methods also make the procedure of claim processing highly subjective and complex, as different assessors may evaluate identical damage differently, </a:t>
            </a:r>
            <a:r>
              <a:rPr lang="en-US" sz="2700" dirty="0">
                <a:solidFill>
                  <a:srgbClr val="000000"/>
                </a:solidFill>
                <a:latin typeface="Times New Roman" panose="02020603050405020304" pitchFamily="18" charset="0"/>
              </a:rPr>
              <a:t>and they can only </a:t>
            </a:r>
            <a:r>
              <a:rPr lang="en-US" sz="2500" dirty="0">
                <a:solidFill>
                  <a:srgbClr val="000000"/>
                </a:solidFill>
                <a:latin typeface="Times New Roman" panose="02020603050405020304" pitchFamily="18" charset="0"/>
              </a:rPr>
              <a:t>work effectively when vehicles are presented in person under ideal conditions, which is not always possible to achieve. So, AI-driven approaches for automated damage detection and claim estimation, like Convolutional Neural Networks (CNNs), Transfer Learning, and Ensemble Regression models were introduced.</a:t>
            </a:r>
            <a:endParaRPr lang="en-IN" sz="2500" dirty="0"/>
          </a:p>
        </p:txBody>
      </p:sp>
    </p:spTree>
    <p:extLst>
      <p:ext uri="{BB962C8B-B14F-4D97-AF65-F5344CB8AC3E}">
        <p14:creationId xmlns:p14="http://schemas.microsoft.com/office/powerpoint/2010/main" val="184950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SYSTEM REQUIREMENT</a:t>
            </a:r>
          </a:p>
        </p:txBody>
      </p:sp>
      <p:sp>
        <p:nvSpPr>
          <p:cNvPr id="3" name="Content Placeholder 2"/>
          <p:cNvSpPr>
            <a:spLocks noGrp="1"/>
          </p:cNvSpPr>
          <p:nvPr>
            <p:ph idx="1"/>
          </p:nvPr>
        </p:nvSpPr>
        <p:spPr/>
        <p:txBody>
          <a:bodyPr>
            <a:normAutofit fontScale="85000" lnSpcReduction="10000"/>
          </a:bodyPr>
          <a:lstStyle/>
          <a:p>
            <a:pPr>
              <a:buNone/>
            </a:pPr>
            <a:r>
              <a:rPr lang="en-US" sz="2600" b="1" cap="all" dirty="0">
                <a:latin typeface="Times New Roman" pitchFamily="18" charset="0"/>
                <a:cs typeface="Times New Roman" pitchFamily="18" charset="0"/>
              </a:rPr>
              <a:t>Software CONFIGURATION</a:t>
            </a:r>
          </a:p>
          <a:p>
            <a:pPr>
              <a:buNone/>
            </a:pPr>
            <a:endParaRPr lang="en-US" sz="2400" dirty="0">
              <a:latin typeface="Times New Roman" pitchFamily="18" charset="0"/>
              <a:cs typeface="Times New Roman" pitchFamily="18" charset="0"/>
            </a:endParaRPr>
          </a:p>
          <a:p>
            <a:pPr lvl="0">
              <a:buFont typeface="Wingdings" panose="05000000000000000000" pitchFamily="2" charset="2"/>
              <a:buChar char="Ø"/>
            </a:pPr>
            <a:r>
              <a:rPr lang="pt-BR" sz="2200" b="1" dirty="0"/>
              <a:t>OS:</a:t>
            </a:r>
            <a:r>
              <a:rPr lang="pt-BR" sz="2200" dirty="0"/>
              <a:t> Windows 10/11, Ubuntu 18.04+, macOS</a:t>
            </a:r>
          </a:p>
          <a:p>
            <a:pPr lvl="0">
              <a:buFont typeface="Wingdings" panose="05000000000000000000" pitchFamily="2" charset="2"/>
              <a:buChar char="Ø"/>
            </a:pPr>
            <a:r>
              <a:rPr lang="en-US" sz="2200" b="1" dirty="0"/>
              <a:t>Programming:</a:t>
            </a:r>
            <a:r>
              <a:rPr lang="en-US" sz="2200" dirty="0"/>
              <a:t> Python 3.8+ (Recommended: 3.10)</a:t>
            </a:r>
          </a:p>
          <a:p>
            <a:pPr lvl="0">
              <a:buFont typeface="Wingdings" panose="05000000000000000000" pitchFamily="2" charset="2"/>
              <a:buChar char="Ø"/>
            </a:pPr>
            <a:r>
              <a:rPr lang="en-IN" sz="2200" b="1" dirty="0"/>
              <a:t>IDE:</a:t>
            </a:r>
            <a:r>
              <a:rPr lang="en-IN" sz="2200" dirty="0"/>
              <a:t> </a:t>
            </a:r>
            <a:r>
              <a:rPr lang="en-IN" sz="2200" dirty="0" err="1"/>
              <a:t>Jupyter</a:t>
            </a:r>
            <a:r>
              <a:rPr lang="en-IN" sz="2200" dirty="0"/>
              <a:t> Notebook, VS Code, PyCharm</a:t>
            </a:r>
            <a:endParaRPr lang="en-US" sz="2200" dirty="0">
              <a:latin typeface="Times New Roman" pitchFamily="18" charset="0"/>
              <a:cs typeface="Times New Roman" pitchFamily="18" charset="0"/>
            </a:endParaRPr>
          </a:p>
          <a:p>
            <a:pPr marL="0" lvl="0" indent="0">
              <a:buNone/>
            </a:pPr>
            <a:endParaRPr lang="en-US" sz="2400" b="1" cap="all" dirty="0">
              <a:latin typeface="Times New Roman" pitchFamily="18" charset="0"/>
              <a:cs typeface="Times New Roman" pitchFamily="18" charset="0"/>
            </a:endParaRPr>
          </a:p>
          <a:p>
            <a:pPr marL="0" lvl="0" indent="0">
              <a:buNone/>
            </a:pPr>
            <a:r>
              <a:rPr lang="en-US" sz="2600" b="1" cap="all" dirty="0">
                <a:latin typeface="Times New Roman" pitchFamily="18" charset="0"/>
                <a:cs typeface="Times New Roman" pitchFamily="18" charset="0"/>
              </a:rPr>
              <a:t>Hardware CONFIGURATION</a:t>
            </a:r>
            <a:endParaRPr lang="en-US" sz="2600" dirty="0">
              <a:latin typeface="Times New Roman" pitchFamily="18" charset="0"/>
              <a:cs typeface="Times New Roman" pitchFamily="18" charset="0"/>
            </a:endParaRPr>
          </a:p>
          <a:p>
            <a:pPr>
              <a:buFont typeface="Wingdings" panose="05000000000000000000" pitchFamily="2" charset="2"/>
              <a:buChar char="Ø"/>
            </a:pPr>
            <a:endParaRPr lang="en-IN" sz="1800" b="1" dirty="0"/>
          </a:p>
          <a:p>
            <a:pPr>
              <a:buFont typeface="Wingdings" panose="05000000000000000000" pitchFamily="2" charset="2"/>
              <a:buChar char="Ø"/>
            </a:pPr>
            <a:r>
              <a:rPr lang="en-IN" sz="2200" b="1" dirty="0"/>
              <a:t>CPU:</a:t>
            </a:r>
            <a:r>
              <a:rPr lang="en-IN" sz="2200" dirty="0"/>
              <a:t> Intel Core i5 (10th Gen) / AMD </a:t>
            </a:r>
            <a:r>
              <a:rPr lang="en-IN" sz="2200" dirty="0" err="1"/>
              <a:t>Ryzen</a:t>
            </a:r>
            <a:r>
              <a:rPr lang="en-IN" sz="2200" dirty="0"/>
              <a:t> 5 (Minimum), Intel Core i7/i9 (Recommended)</a:t>
            </a:r>
            <a:endParaRPr lang="en-US" sz="2200" dirty="0">
              <a:latin typeface="Times New Roman" pitchFamily="18" charset="0"/>
              <a:cs typeface="Times New Roman" pitchFamily="18" charset="0"/>
            </a:endParaRPr>
          </a:p>
          <a:p>
            <a:pPr>
              <a:buFont typeface="Wingdings" panose="05000000000000000000" pitchFamily="2" charset="2"/>
              <a:buChar char="Ø"/>
            </a:pPr>
            <a:r>
              <a:rPr lang="en-IN" sz="2200" b="1" dirty="0"/>
              <a:t>GPU:</a:t>
            </a:r>
            <a:r>
              <a:rPr lang="en-IN" sz="2200" dirty="0"/>
              <a:t> NVIDIA GTX 1650 (Minimum), NVIDIA RTX 3060 / Tesla A100 (Recommended)</a:t>
            </a:r>
          </a:p>
          <a:p>
            <a:pPr>
              <a:buFont typeface="Wingdings" panose="05000000000000000000" pitchFamily="2" charset="2"/>
              <a:buChar char="Ø"/>
            </a:pPr>
            <a:r>
              <a:rPr lang="en-IN" sz="2200" b="1" dirty="0"/>
              <a:t>RAM:</a:t>
            </a:r>
            <a:r>
              <a:rPr lang="en-IN" sz="2200" dirty="0"/>
              <a:t> 8GB (Minimum), 16GB - 32GB (Recommended)</a:t>
            </a:r>
          </a:p>
          <a:p>
            <a:pPr>
              <a:buFont typeface="Wingdings" panose="05000000000000000000" pitchFamily="2" charset="2"/>
              <a:buChar char="Ø"/>
            </a:pPr>
            <a:r>
              <a:rPr lang="en-IN" sz="2200" b="1" dirty="0"/>
              <a:t>Storage:</a:t>
            </a:r>
            <a:r>
              <a:rPr lang="en-IN" sz="2200" dirty="0"/>
              <a:t> 256GB SSD + 1TB HDD (Minimum), 512GB - 1TB SSD (Recommended)</a:t>
            </a:r>
          </a:p>
          <a:p>
            <a:pPr marL="0" indent="0">
              <a:buNone/>
            </a:pPr>
            <a:endParaRPr lang="en-IN"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295400"/>
          </a:xfrm>
        </p:spPr>
        <p:txBody>
          <a:bodyPr/>
          <a:lstStyle/>
          <a:p>
            <a:r>
              <a:rPr lang="en-US" dirty="0">
                <a:latin typeface="Times New Roman" panose="02020603050405020304" pitchFamily="18" charset="0"/>
                <a:cs typeface="Times New Roman" panose="02020603050405020304" pitchFamily="18" charset="0"/>
              </a:rPr>
              <a:t>LITERATURE SURVEY</a:t>
            </a:r>
          </a:p>
        </p:txBody>
      </p:sp>
      <p:sp>
        <p:nvSpPr>
          <p:cNvPr id="3" name="Content Placeholder 2"/>
          <p:cNvSpPr>
            <a:spLocks noGrp="1"/>
          </p:cNvSpPr>
          <p:nvPr>
            <p:ph idx="1"/>
          </p:nvPr>
        </p:nvSpPr>
        <p:spPr>
          <a:xfrm>
            <a:off x="457200" y="1219200"/>
            <a:ext cx="8229600" cy="5257800"/>
          </a:xfrm>
        </p:spPr>
        <p:txBody>
          <a:bodyPr>
            <a:noAutofit/>
          </a:bodyPr>
          <a:lstStyle/>
          <a:p>
            <a:pPr marL="0" indent="0" algn="just">
              <a:lnSpc>
                <a:spcPct val="150000"/>
              </a:lnSpc>
              <a:buNone/>
            </a:pPr>
            <a:r>
              <a:rPr lang="en-US" sz="1900" b="1" dirty="0">
                <a:latin typeface="Times New Roman" pitchFamily="18" charset="0"/>
                <a:cs typeface="Times New Roman" pitchFamily="18" charset="0"/>
              </a:rPr>
              <a:t>1</a:t>
            </a:r>
            <a:r>
              <a:rPr lang="en-US" sz="2000" b="1" dirty="0">
                <a:latin typeface="Times New Roman" panose="02020603050405020304" pitchFamily="18" charset="0"/>
                <a:cs typeface="Times New Roman" pitchFamily="18" charset="0"/>
              </a:rPr>
              <a:t>. </a:t>
            </a:r>
            <a:r>
              <a:rPr lang="en-US" sz="2000" dirty="0">
                <a:latin typeface="Times New Roman" panose="02020603050405020304" pitchFamily="18" charset="0"/>
                <a:cs typeface="Times New Roman" panose="02020603050405020304" pitchFamily="18" charset="0"/>
              </a:rPr>
              <a:t>A c</a:t>
            </a:r>
            <a:r>
              <a:rPr lang="en-US" sz="2000" b="0" i="0" dirty="0">
                <a:effectLst/>
                <a:latin typeface="Times New Roman" panose="02020603050405020304" pitchFamily="18" charset="0"/>
                <a:cs typeface="Times New Roman" panose="02020603050405020304" pitchFamily="18" charset="0"/>
              </a:rPr>
              <a:t>omprehensive review of object detection techniques using both machine learning and deep learning approaches. It highlights the limitations of traditional methods like SIFT and HOG, which struggle with real-time processing and complex image conditions. The authors emphasize the superiority of deep learning methods such as R-CNN, YOLO, and </a:t>
            </a:r>
            <a:r>
              <a:rPr lang="en-US" sz="2000" b="0" i="0" dirty="0" err="1">
                <a:effectLst/>
                <a:latin typeface="Times New Roman" panose="02020603050405020304" pitchFamily="18" charset="0"/>
                <a:cs typeface="Times New Roman" panose="02020603050405020304" pitchFamily="18" charset="0"/>
              </a:rPr>
              <a:t>RetinaNet</a:t>
            </a:r>
            <a:r>
              <a:rPr lang="en-US" sz="2000" b="0" i="0" dirty="0">
                <a:effectLst/>
                <a:latin typeface="Times New Roman" panose="02020603050405020304" pitchFamily="18" charset="0"/>
                <a:cs typeface="Times New Roman" panose="02020603050405020304" pitchFamily="18" charset="0"/>
              </a:rPr>
              <a:t>, which offer faster and more accurate object detection. The paper also discusses the advantages, challenges, and applications of object detection in various fields, including healthcare, autonomous vehicles, and surveillance. Future scopes, such as advancements in autonomous vehicles and augmented reality, are also explored. The review underscores the growing importance of object detection in automating and enhancing real-world applications.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458200" cy="6172200"/>
          </a:xfrm>
        </p:spPr>
        <p:txBody>
          <a:bodyPr>
            <a:noAutofit/>
          </a:bodyPr>
          <a:lstStyle/>
          <a:p>
            <a:pPr marL="0" indent="0" algn="just">
              <a:lnSpc>
                <a:spcPct val="150000"/>
              </a:lnSpc>
              <a:buNone/>
            </a:pPr>
            <a:r>
              <a:rPr lang="en-US" sz="2200" b="1" dirty="0">
                <a:latin typeface="Times New Roman" panose="02020603050405020304" pitchFamily="18" charset="0"/>
                <a:cs typeface="Times New Roman" panose="02020603050405020304" pitchFamily="18" charset="0"/>
              </a:rPr>
              <a:t>2. </a:t>
            </a:r>
            <a:r>
              <a:rPr lang="en-US" sz="2200" b="0" i="0" dirty="0">
                <a:effectLst/>
                <a:latin typeface="Times New Roman" panose="02020603050405020304" pitchFamily="18" charset="0"/>
                <a:cs typeface="Times New Roman" panose="02020603050405020304" pitchFamily="18" charset="0"/>
              </a:rPr>
              <a:t>The paper presents an innovative system for automated car damage detection and insurance claim estimation using deep learning. The system employs the YOLO (You Only Look Once) algorithm for real-time damage detection and a regression model to calculate claim amounts based on damage severity and vehicle age. Built with Python Flask, the web application offers a user-friendly interface for image uploads and claim processing. The YOLO model achieved high precision and recall, while the regression model demonstrated accurate claim estimations. The system addresses inefficiencies in traditional insurance processes, offering faster, more accurate, and transparent claim assessments. Future improvements include dataset expansion and mobile compatibility enhancements.</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525276-4D26-B749-5D7F-D45A51ED5631}"/>
              </a:ext>
            </a:extLst>
          </p:cNvPr>
          <p:cNvSpPr txBox="1"/>
          <p:nvPr/>
        </p:nvSpPr>
        <p:spPr>
          <a:xfrm>
            <a:off x="571500" y="609599"/>
            <a:ext cx="8001000" cy="5617692"/>
          </a:xfrm>
          <a:prstGeom prst="rect">
            <a:avLst/>
          </a:prstGeom>
          <a:noFill/>
        </p:spPr>
        <p:txBody>
          <a:bodyPr wrap="square" rtlCol="0">
            <a:spAutoFit/>
          </a:bodyPr>
          <a:lstStyle/>
          <a:p>
            <a:pPr marL="342900" indent="-342900" algn="just">
              <a:lnSpc>
                <a:spcPct val="150000"/>
              </a:lnSpc>
              <a:buAutoNum type="arabicPeriod" startAt="3"/>
            </a:pPr>
            <a:r>
              <a:rPr lang="en-US" sz="2200" b="0" i="0" dirty="0">
                <a:effectLst/>
                <a:latin typeface="Times New Roman" panose="02020603050405020304" pitchFamily="18" charset="0"/>
                <a:cs typeface="Times New Roman" panose="02020603050405020304" pitchFamily="18" charset="0"/>
              </a:rPr>
              <a:t>Introduction of an ensemble of 10 YOLOv5 deep learning models, optimized for high precision and low false positives, significantly improving over traditional methods like DCN+. The system leverages a custom dataset, </a:t>
            </a:r>
            <a:r>
              <a:rPr lang="en-US" sz="2200" b="0" i="0" dirty="0" err="1">
                <a:effectLst/>
                <a:latin typeface="Times New Roman" panose="02020603050405020304" pitchFamily="18" charset="0"/>
                <a:cs typeface="Times New Roman" panose="02020603050405020304" pitchFamily="18" charset="0"/>
              </a:rPr>
              <a:t>TartesiaDS</a:t>
            </a:r>
            <a:r>
              <a:rPr lang="en-US" sz="2200" b="0" i="0" dirty="0">
                <a:effectLst/>
                <a:latin typeface="Times New Roman" panose="02020603050405020304" pitchFamily="18" charset="0"/>
                <a:cs typeface="Times New Roman" panose="02020603050405020304" pitchFamily="18" charset="0"/>
              </a:rPr>
              <a:t>, labeled by professional appraisers, ensuring real-world applicability. The ensemble approach achieves faster inference times and better scalability, making it suitable for large-scale deployment. The study also compares YOLOv5 and YOLOv8 ensembles, highlighting their trade-offs in precision and recall. This work advances vehicle damage detection, offering a robust solution for automating insurance claims with high accuracy and efficiency.</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0131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452BCD-DD63-5639-F09F-DA5471A165DC}"/>
              </a:ext>
            </a:extLst>
          </p:cNvPr>
          <p:cNvSpPr txBox="1"/>
          <p:nvPr/>
        </p:nvSpPr>
        <p:spPr>
          <a:xfrm>
            <a:off x="457200" y="533400"/>
            <a:ext cx="8229600" cy="5901616"/>
          </a:xfrm>
          <a:prstGeom prst="rect">
            <a:avLst/>
          </a:prstGeom>
          <a:noFill/>
        </p:spPr>
        <p:txBody>
          <a:bodyPr wrap="square" rtlCol="0">
            <a:sp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4.</a:t>
            </a:r>
            <a:r>
              <a:rPr lang="en-IN" sz="2000" dirty="0">
                <a:latin typeface="Times New Roman" panose="02020603050405020304" pitchFamily="18" charset="0"/>
                <a:cs typeface="Times New Roman" panose="02020603050405020304" pitchFamily="18" charset="0"/>
              </a:rPr>
              <a:t> </a:t>
            </a:r>
            <a:r>
              <a:rPr lang="en-US" sz="1950" dirty="0">
                <a:latin typeface="Times New Roman" panose="02020603050405020304" pitchFamily="18" charset="0"/>
                <a:cs typeface="Times New Roman" panose="02020603050405020304" pitchFamily="18" charset="0"/>
              </a:rPr>
              <a:t>E</a:t>
            </a:r>
            <a:r>
              <a:rPr lang="en-US" sz="1950" b="0" i="0" dirty="0">
                <a:effectLst/>
                <a:latin typeface="Times New Roman" panose="02020603050405020304" pitchFamily="18" charset="0"/>
                <a:cs typeface="Times New Roman" panose="02020603050405020304" pitchFamily="18" charset="0"/>
              </a:rPr>
              <a:t>fficient object detection and classification approach using the Enhanced Moving Object Detection (EMOD) algorithm, optimized for motion videos. The method employs a convolutional neural network (CNN) enhanced with a Manta Ray-based search optimization technique. Preprocessing involves noise reduction and contrast enhancement using polynomial adaptive antialiasing and boundary area preservation algorithms. EMOD improves detection accuracy, particularly for smaller objects, by leveraging grid-based bounding box prediction and contrast-enhanced image sequences. The approach is validated on UAV datasets, achieving high accuracy (97.43%) and outperforming traditional methods like Deep Belief Networks (DBN) and Recurrent Neural Networks (RNN) in precision, recall, and F-measure. The study highlights EMOD's potential for real-time object detection in complex environments, offering significant advancements in computer vision applications.</a:t>
            </a:r>
            <a:endParaRPr lang="en-IN" sz="19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2281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FE336F-2EC5-8BB0-1A63-99C86BF2CFFC}"/>
              </a:ext>
            </a:extLst>
          </p:cNvPr>
          <p:cNvSpPr txBox="1"/>
          <p:nvPr/>
        </p:nvSpPr>
        <p:spPr>
          <a:xfrm>
            <a:off x="647700" y="457200"/>
            <a:ext cx="7848600" cy="5576976"/>
          </a:xfrm>
          <a:prstGeom prst="rect">
            <a:avLst/>
          </a:prstGeom>
          <a:noFill/>
        </p:spPr>
        <p:txBody>
          <a:bodyPr wrap="square" rtlCol="0">
            <a:sp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5</a:t>
            </a:r>
            <a:r>
              <a:rPr lang="en-IN" sz="2000" dirty="0">
                <a:latin typeface="Times New Roman" panose="02020603050405020304" pitchFamily="18" charset="0"/>
                <a:cs typeface="Times New Roman" panose="02020603050405020304" pitchFamily="18" charset="0"/>
              </a:rPr>
              <a:t>. </a:t>
            </a:r>
            <a:r>
              <a:rPr lang="en-US" sz="2000" b="0" i="0" dirty="0">
                <a:effectLst/>
                <a:latin typeface="Times New Roman" panose="02020603050405020304" pitchFamily="18" charset="0"/>
                <a:cs typeface="Times New Roman" panose="02020603050405020304" pitchFamily="18" charset="0"/>
              </a:rPr>
              <a:t>Exploration of the use of synthetic data to enhance object detection accuracy in autonomous vehicles. It addresses challenges in machine learning, such as data scarcity, noise, and imbalance, by generating high-quality synthetic datasets using Unity. Two systems, </a:t>
            </a:r>
            <a:r>
              <a:rPr lang="en-US" sz="2000" b="0" i="1" dirty="0">
                <a:effectLst/>
                <a:latin typeface="Times New Roman" panose="02020603050405020304" pitchFamily="18" charset="0"/>
                <a:cs typeface="Times New Roman" panose="02020603050405020304" pitchFamily="18" charset="0"/>
              </a:rPr>
              <a:t>System-1</a:t>
            </a:r>
            <a:r>
              <a:rPr lang="en-US" sz="2000" b="0" i="0" dirty="0">
                <a:effectLst/>
                <a:latin typeface="Times New Roman" panose="02020603050405020304" pitchFamily="18" charset="0"/>
                <a:cs typeface="Times New Roman" panose="02020603050405020304" pitchFamily="18" charset="0"/>
              </a:rPr>
              <a:t> (trained on real data) and </a:t>
            </a:r>
            <a:r>
              <a:rPr lang="en-US" sz="2000" b="0" i="1" dirty="0">
                <a:effectLst/>
                <a:latin typeface="Times New Roman" panose="02020603050405020304" pitchFamily="18" charset="0"/>
                <a:cs typeface="Times New Roman" panose="02020603050405020304" pitchFamily="18" charset="0"/>
              </a:rPr>
              <a:t>System-2</a:t>
            </a:r>
            <a:r>
              <a:rPr lang="en-US" sz="2000" b="0" i="0" dirty="0">
                <a:effectLst/>
                <a:latin typeface="Times New Roman" panose="02020603050405020304" pitchFamily="18" charset="0"/>
                <a:cs typeface="Times New Roman" panose="02020603050405020304" pitchFamily="18" charset="0"/>
              </a:rPr>
              <a:t> (trained on real and synthetic data), are evaluated using the YOLO model. Results show that </a:t>
            </a:r>
            <a:r>
              <a:rPr lang="en-US" sz="2000" b="0" i="1" dirty="0">
                <a:effectLst/>
                <a:latin typeface="Times New Roman" panose="02020603050405020304" pitchFamily="18" charset="0"/>
                <a:cs typeface="Times New Roman" panose="02020603050405020304" pitchFamily="18" charset="0"/>
              </a:rPr>
              <a:t>System-2</a:t>
            </a:r>
            <a:r>
              <a:rPr lang="en-US" sz="2000" b="0" i="0" dirty="0">
                <a:effectLst/>
                <a:latin typeface="Times New Roman" panose="02020603050405020304" pitchFamily="18" charset="0"/>
                <a:cs typeface="Times New Roman" panose="02020603050405020304" pitchFamily="18" charset="0"/>
              </a:rPr>
              <a:t> outperforms </a:t>
            </a:r>
            <a:r>
              <a:rPr lang="en-US" sz="2000" b="0" i="1" dirty="0">
                <a:effectLst/>
                <a:latin typeface="Times New Roman" panose="02020603050405020304" pitchFamily="18" charset="0"/>
                <a:cs typeface="Times New Roman" panose="02020603050405020304" pitchFamily="18" charset="0"/>
              </a:rPr>
              <a:t>System-1</a:t>
            </a:r>
            <a:r>
              <a:rPr lang="en-US" sz="2000" b="0" i="0" dirty="0">
                <a:effectLst/>
                <a:latin typeface="Times New Roman" panose="02020603050405020304" pitchFamily="18" charset="0"/>
                <a:cs typeface="Times New Roman" panose="02020603050405020304" pitchFamily="18" charset="0"/>
              </a:rPr>
              <a:t>, achieving a 3% improvement in accuracy and superior performance in precision, recall, and mean average precision. The study demonstrates that synthetic data can effectively augment real-world datasets, improving model robustness and generalization, particularly in dynamic environments like autonomous driving. This approach offers a promising solution for training reliable machine learning models in data-scarce domains.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2925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dirty="0">
                <a:latin typeface="Times New Roman" panose="02020603050405020304" pitchFamily="18" charset="0"/>
                <a:cs typeface="Times New Roman" panose="02020603050405020304" pitchFamily="18" charset="0"/>
              </a:rPr>
              <a:t>EXISTING SYSTEM</a:t>
            </a:r>
          </a:p>
        </p:txBody>
      </p:sp>
      <p:sp>
        <p:nvSpPr>
          <p:cNvPr id="3" name="Content Placeholder 2"/>
          <p:cNvSpPr>
            <a:spLocks noGrp="1"/>
          </p:cNvSpPr>
          <p:nvPr>
            <p:ph idx="1"/>
          </p:nvPr>
        </p:nvSpPr>
        <p:spPr>
          <a:xfrm>
            <a:off x="533400" y="1219200"/>
            <a:ext cx="8229600" cy="4754563"/>
          </a:xfrm>
        </p:spPr>
        <p:txBody>
          <a:bodyPr>
            <a:noAutofit/>
          </a:bodyPr>
          <a:lstStyle/>
          <a:p>
            <a:pPr marL="0" indent="0" algn="l">
              <a:spcAft>
                <a:spcPts val="300"/>
              </a:spcAft>
              <a:buNone/>
            </a:pPr>
            <a:r>
              <a:rPr lang="en-US" sz="1800" b="1" i="0" dirty="0">
                <a:effectLst/>
                <a:latin typeface="Times New Roman" panose="02020603050405020304" pitchFamily="18" charset="0"/>
                <a:cs typeface="Times New Roman" panose="02020603050405020304" pitchFamily="18" charset="0"/>
              </a:rPr>
              <a:t>VGG16 / </a:t>
            </a:r>
            <a:r>
              <a:rPr lang="en-US" sz="1800" b="1" i="0" dirty="0" err="1">
                <a:effectLst/>
                <a:latin typeface="Times New Roman" panose="02020603050405020304" pitchFamily="18" charset="0"/>
                <a:cs typeface="Times New Roman" panose="02020603050405020304" pitchFamily="18" charset="0"/>
              </a:rPr>
              <a:t>ResNet</a:t>
            </a:r>
            <a:r>
              <a:rPr lang="en-US" sz="1800" b="1" i="0" dirty="0">
                <a:effectLst/>
                <a:latin typeface="Times New Roman" panose="02020603050405020304" pitchFamily="18" charset="0"/>
                <a:cs typeface="Times New Roman" panose="02020603050405020304" pitchFamily="18" charset="0"/>
              </a:rPr>
              <a:t>-based Damage Classifiers:</a:t>
            </a:r>
            <a:endParaRPr lang="en-US" sz="1800" b="0" i="0" dirty="0">
              <a:effectLst/>
              <a:latin typeface="Times New Roman" panose="02020603050405020304" pitchFamily="18" charset="0"/>
              <a:cs typeface="Times New Roman" panose="02020603050405020304" pitchFamily="18" charset="0"/>
            </a:endParaRPr>
          </a:p>
          <a:p>
            <a:pPr marL="1143000" lvl="2" indent="-22860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Earlier deep learning approaches for vehicle damage detection used heavier CNN architectures like VGG16 and ResNet-50, trained from scratch or with basic fine-tuning. While accurate, these models are computationally expensive, require large datasets, and are too slow for real-time deployment on standard </a:t>
            </a:r>
            <a:r>
              <a:rPr lang="en-US" sz="1800" b="0" i="0" dirty="0" err="1">
                <a:effectLst/>
                <a:latin typeface="Times New Roman" panose="02020603050405020304" pitchFamily="18" charset="0"/>
                <a:cs typeface="Times New Roman" panose="02020603050405020304" pitchFamily="18" charset="0"/>
              </a:rPr>
              <a:t>hardware.</a:t>
            </a:r>
            <a:r>
              <a:rPr lang="en-US" sz="1800" b="1" i="0" dirty="0" err="1">
                <a:effectLst/>
                <a:latin typeface="Times New Roman" panose="02020603050405020304" pitchFamily="18" charset="0"/>
                <a:cs typeface="Times New Roman" panose="02020603050405020304" pitchFamily="18" charset="0"/>
              </a:rPr>
              <a:t>Example</a:t>
            </a:r>
            <a:r>
              <a:rPr lang="en-US" sz="1800" b="1" i="0" dirty="0">
                <a:effectLst/>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a:t>
            </a:r>
            <a:r>
              <a:rPr lang="en-US" sz="1800" b="0" i="0" dirty="0">
                <a:effectLst/>
                <a:latin typeface="Times New Roman" panose="02020603050405020304" pitchFamily="18" charset="0"/>
                <a:cs typeface="Times New Roman" panose="02020603050405020304" pitchFamily="18" charset="0"/>
              </a:rPr>
              <a:t>Viola-Jones algorithm for face detection.</a:t>
            </a:r>
          </a:p>
          <a:p>
            <a:pPr marL="1143000" lvl="2" indent="-228600" algn="l">
              <a:spcBef>
                <a:spcPts val="300"/>
              </a:spcBef>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Example: Research systems that trained VGG16 on car damage datasets to classify damage severity into categories like minor, moderate, and total loss.</a:t>
            </a:r>
          </a:p>
          <a:p>
            <a:pPr marL="0" indent="0" algn="l">
              <a:spcBef>
                <a:spcPts val="300"/>
              </a:spcBef>
              <a:spcAft>
                <a:spcPts val="300"/>
              </a:spcAft>
              <a:buNone/>
            </a:pPr>
            <a:endParaRPr lang="en-US" sz="1800" dirty="0">
              <a:latin typeface="Times New Roman" panose="02020603050405020304" pitchFamily="18" charset="0"/>
              <a:cs typeface="Times New Roman" panose="02020603050405020304" pitchFamily="18" charset="0"/>
            </a:endParaRPr>
          </a:p>
          <a:p>
            <a:pPr marL="0" indent="0" algn="l">
              <a:spcBef>
                <a:spcPts val="300"/>
              </a:spcBef>
              <a:spcAft>
                <a:spcPts val="300"/>
              </a:spcAft>
              <a:buNone/>
            </a:pPr>
            <a:r>
              <a:rPr lang="en-US" sz="1800" b="0" i="0" dirty="0">
                <a:effectLst/>
                <a:latin typeface="Times New Roman" panose="02020603050405020304" pitchFamily="18" charset="0"/>
                <a:cs typeface="Times New Roman" panose="02020603050405020304" pitchFamily="18" charset="0"/>
              </a:rPr>
              <a:t> </a:t>
            </a:r>
            <a:r>
              <a:rPr lang="en-US" sz="1800" b="1" i="0" dirty="0">
                <a:effectLst/>
                <a:latin typeface="Times New Roman" panose="02020603050405020304" pitchFamily="18" charset="0"/>
                <a:cs typeface="Times New Roman" panose="02020603050405020304" pitchFamily="18" charset="0"/>
              </a:rPr>
              <a:t>Faster R-CNN for Damage Localization:</a:t>
            </a:r>
          </a:p>
          <a:p>
            <a:pPr marL="1076325">
              <a:spcBef>
                <a:spcPts val="300"/>
              </a:spcBef>
              <a:spcAft>
                <a:spcPts val="300"/>
              </a:spcAft>
            </a:pPr>
            <a:r>
              <a:rPr lang="en-US" sz="1800" i="0" dirty="0">
                <a:effectLst/>
                <a:latin typeface="Times New Roman" panose="02020603050405020304" pitchFamily="18" charset="0"/>
                <a:cs typeface="Times New Roman" panose="02020603050405020304" pitchFamily="18" charset="0"/>
              </a:rPr>
              <a:t>Region-based CNNs (R-CNN, Faster R-CNN) were applied to vehicle damage by drawing bounding boxes around damaged regions. While these provide spatial localization of damage, they require bounding box annotations during training (far more laborious than simple image-level labels) and are significantly slower than classification-only approaches.</a:t>
            </a:r>
          </a:p>
          <a:p>
            <a:pPr marL="733425" indent="0">
              <a:spcBef>
                <a:spcPts val="300"/>
              </a:spcBef>
              <a:spcAft>
                <a:spcPts val="300"/>
              </a:spcAft>
              <a:buNone/>
            </a:pPr>
            <a:endParaRPr lang="en-US" sz="1800" i="0" dirty="0">
              <a:effectLst/>
              <a:latin typeface="Times New Roman" panose="02020603050405020304" pitchFamily="18" charset="0"/>
              <a:cs typeface="Times New Roman" panose="02020603050405020304" pitchFamily="18" charset="0"/>
            </a:endParaRPr>
          </a:p>
          <a:p>
            <a:pPr marL="0" indent="0">
              <a:spcBef>
                <a:spcPts val="300"/>
              </a:spcBef>
              <a:spcAft>
                <a:spcPts val="300"/>
              </a:spcAft>
              <a:buNone/>
            </a:pPr>
            <a:endParaRPr lang="en-US" sz="1800" i="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172200"/>
          </a:xfrm>
        </p:spPr>
        <p:txBody>
          <a:bodyPr>
            <a:noAutofit/>
          </a:bodyPr>
          <a:lstStyle/>
          <a:p>
            <a:pPr marL="0" indent="0">
              <a:buNone/>
            </a:pPr>
            <a:endParaRPr lang="en-US" sz="1800" b="1" dirty="0">
              <a:latin typeface="Times New Roman" panose="02020603050405020304" pitchFamily="18" charset="0"/>
              <a:cs typeface="Times New Roman" panose="02020603050405020304" pitchFamily="18" charset="0"/>
            </a:endParaRPr>
          </a:p>
          <a:p>
            <a:pPr marL="0" indent="0">
              <a:spcAft>
                <a:spcPts val="300"/>
              </a:spcAft>
              <a:buNone/>
            </a:pPr>
            <a:r>
              <a:rPr lang="en-US" sz="1800" dirty="0">
                <a:latin typeface="Times New Roman" panose="02020603050405020304" pitchFamily="18" charset="0"/>
                <a:cs typeface="Times New Roman" panose="02020603050405020304" pitchFamily="18" charset="0"/>
              </a:rPr>
              <a:t>Example: Academic papers using Faster R-CNN on annotated vehicle datasets to detect and locate specific damage types such as dents, scratches, and broken parts.</a:t>
            </a:r>
          </a:p>
          <a:p>
            <a:pPr marL="0" indent="0">
              <a:spcAft>
                <a:spcPts val="300"/>
              </a:spcAft>
              <a:buNone/>
            </a:pPr>
            <a:r>
              <a:rPr lang="en-US" sz="1800" b="1" i="0" dirty="0">
                <a:effectLst/>
                <a:latin typeface="Times New Roman" panose="02020603050405020304" pitchFamily="18" charset="0"/>
                <a:cs typeface="Times New Roman" panose="02020603050405020304" pitchFamily="18" charset="0"/>
              </a:rPr>
              <a:t> </a:t>
            </a:r>
          </a:p>
          <a:p>
            <a:pPr marL="0" indent="0">
              <a:spcAft>
                <a:spcPts val="300"/>
              </a:spcAft>
              <a:buNone/>
            </a:pPr>
            <a:r>
              <a:rPr lang="en-US" sz="1800" b="1" i="0" dirty="0">
                <a:effectLst/>
                <a:latin typeface="Times New Roman" panose="02020603050405020304" pitchFamily="18" charset="0"/>
                <a:cs typeface="Times New Roman" panose="02020603050405020304" pitchFamily="18" charset="0"/>
              </a:rPr>
              <a:t>Tractable AI / CCC Intelligent Solutions (Commercial Platforms):</a:t>
            </a:r>
            <a:endParaRPr lang="en-US" sz="1800" b="0" i="0" dirty="0">
              <a:effectLst/>
              <a:latin typeface="Times New Roman" panose="02020603050405020304" pitchFamily="18" charset="0"/>
              <a:cs typeface="Times New Roman" panose="02020603050405020304" pitchFamily="18" charset="0"/>
            </a:endParaRPr>
          </a:p>
          <a:p>
            <a:pPr marL="1076325" lvl="2">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Commercial AI platforms used by large insurers that </a:t>
            </a:r>
            <a:r>
              <a:rPr lang="en-US" sz="1800" b="0" i="0" dirty="0" err="1">
                <a:effectLst/>
                <a:latin typeface="Times New Roman" panose="02020603050405020304" pitchFamily="18" charset="0"/>
                <a:cs typeface="Times New Roman" panose="02020603050405020304" pitchFamily="18" charset="0"/>
              </a:rPr>
              <a:t>analyse</a:t>
            </a:r>
            <a:r>
              <a:rPr lang="en-US" sz="1800" b="0" i="0" dirty="0">
                <a:effectLst/>
                <a:latin typeface="Times New Roman" panose="02020603050405020304" pitchFamily="18" charset="0"/>
                <a:cs typeface="Times New Roman" panose="02020603050405020304" pitchFamily="18" charset="0"/>
              </a:rPr>
              <a:t> vehicle photos submitted via mobile apps to estimate repair costs. These are closed, proprietary systems not accessible to independent developers, require enterprise licensing, and are tightly coupled to their own repair network databases.</a:t>
            </a:r>
          </a:p>
          <a:p>
            <a:pPr marL="1076325" lvl="2">
              <a:spcBef>
                <a:spcPts val="300"/>
              </a:spcBef>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Example: </a:t>
            </a:r>
            <a:r>
              <a:rPr lang="en-US" sz="1800" dirty="0" err="1">
                <a:latin typeface="Times New Roman" panose="02020603050405020304" pitchFamily="18" charset="0"/>
                <a:cs typeface="Times New Roman" panose="02020603050405020304" pitchFamily="18" charset="0"/>
              </a:rPr>
              <a:t>Tractable’s</a:t>
            </a:r>
            <a:r>
              <a:rPr lang="en-US" sz="1800" dirty="0">
                <a:latin typeface="Times New Roman" panose="02020603050405020304" pitchFamily="18" charset="0"/>
                <a:cs typeface="Times New Roman" panose="02020603050405020304" pitchFamily="18" charset="0"/>
              </a:rPr>
              <a:t> photo-based appraisal tool used by Ageas Covea and other major European insurers</a:t>
            </a:r>
          </a:p>
          <a:p>
            <a:pPr marL="914400" lvl="2" indent="0">
              <a:spcBef>
                <a:spcPts val="300"/>
              </a:spcBef>
              <a:buNone/>
            </a:pPr>
            <a:endParaRPr lang="en-US" sz="1800" dirty="0">
              <a:latin typeface="Times New Roman" panose="02020603050405020304" pitchFamily="18" charset="0"/>
              <a:cs typeface="Times New Roman" panose="02020603050405020304" pitchFamily="18" charset="0"/>
            </a:endParaRPr>
          </a:p>
          <a:p>
            <a:pPr marL="92075" lvl="2" indent="0">
              <a:spcBef>
                <a:spcPts val="300"/>
              </a:spcBef>
              <a:buNone/>
            </a:pPr>
            <a:r>
              <a:rPr lang="en-US" sz="1800" b="1" i="0" dirty="0">
                <a:effectLst/>
                <a:latin typeface="Times New Roman" panose="02020603050405020304" pitchFamily="18" charset="0"/>
                <a:cs typeface="Times New Roman" panose="02020603050405020304" pitchFamily="18" charset="0"/>
              </a:rPr>
              <a:t>Linear Regression for Claim Amount Prediction::</a:t>
            </a:r>
          </a:p>
          <a:p>
            <a:pPr marL="1076325">
              <a:lnSpc>
                <a:spcPct val="150000"/>
              </a:lnSpc>
            </a:pPr>
            <a:r>
              <a:rPr lang="en-US" sz="1800" dirty="0">
                <a:latin typeface="Times New Roman" pitchFamily="18" charset="0"/>
                <a:cs typeface="Times New Roman" pitchFamily="18" charset="0"/>
              </a:rPr>
              <a:t>Simple linear regression models trained on historical claim data assume a direct proportional relationship between input features (vehicle age, incident type) and claim amount. These fail to capture non-linear interactions</a:t>
            </a:r>
          </a:p>
          <a:p>
            <a:pPr>
              <a:lnSpc>
                <a:spcPct val="150000"/>
              </a:lnSpc>
            </a:pPr>
            <a:endParaRPr lang="en-US" sz="1800"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1EE0A-78A1-61F5-B7BD-833B5CCC36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1102AE-129C-77E2-415E-B3F196EEC999}"/>
              </a:ext>
            </a:extLst>
          </p:cNvPr>
          <p:cNvSpPr>
            <a:spLocks noGrp="1"/>
          </p:cNvSpPr>
          <p:nvPr>
            <p:ph idx="1"/>
          </p:nvPr>
        </p:nvSpPr>
        <p:spPr>
          <a:xfrm>
            <a:off x="457200" y="381000"/>
            <a:ext cx="8229600" cy="6172200"/>
          </a:xfrm>
        </p:spPr>
        <p:txBody>
          <a:bodyPr>
            <a:noAutofit/>
          </a:bodyPr>
          <a:lstStyle/>
          <a:p>
            <a:pPr marL="0" indent="0" algn="l">
              <a:buNone/>
            </a:pPr>
            <a:endParaRPr lang="en-US" sz="1800" b="1" dirty="0">
              <a:latin typeface="Times New Roman" panose="02020603050405020304" pitchFamily="18" charset="0"/>
              <a:cs typeface="Times New Roman" panose="02020603050405020304" pitchFamily="18" charset="0"/>
            </a:endParaRPr>
          </a:p>
          <a:p>
            <a:pPr>
              <a:spcAft>
                <a:spcPts val="300"/>
              </a:spcAft>
            </a:pPr>
            <a:r>
              <a:rPr lang="en-US" sz="1800" i="0" dirty="0">
                <a:effectLst/>
                <a:latin typeface="Times New Roman" panose="02020603050405020304" pitchFamily="18" charset="0"/>
                <a:cs typeface="Times New Roman" panose="02020603050405020304" pitchFamily="18" charset="0"/>
              </a:rPr>
              <a:t>Example: Early actuarial data models used by insurers before ensemble ML methods became standard, relying on a handful of handpicked variables with manually assigned weights.</a:t>
            </a:r>
          </a:p>
          <a:p>
            <a:pPr>
              <a:spcAft>
                <a:spcPts val="300"/>
              </a:spcAft>
            </a:pPr>
            <a:endParaRPr lang="en-US" sz="1800" i="0" dirty="0">
              <a:effectLst/>
              <a:latin typeface="Times New Roman" panose="02020603050405020304" pitchFamily="18" charset="0"/>
              <a:cs typeface="Times New Roman" panose="02020603050405020304" pitchFamily="18" charset="0"/>
            </a:endParaRPr>
          </a:p>
          <a:p>
            <a:pPr marL="0" indent="0" algn="l">
              <a:spcAft>
                <a:spcPts val="300"/>
              </a:spcAft>
              <a:buNone/>
            </a:pPr>
            <a:r>
              <a:rPr lang="en-US" sz="1800" b="1" dirty="0">
                <a:latin typeface="Times New Roman" panose="02020603050405020304" pitchFamily="18" charset="0"/>
                <a:cs typeface="Times New Roman" panose="02020603050405020304" pitchFamily="18" charset="0"/>
              </a:rPr>
              <a:t>Single Decision Tree Regressor</a:t>
            </a:r>
            <a:r>
              <a:rPr lang="en-US" sz="1800" b="1" i="0" dirty="0">
                <a:effectLst/>
                <a:latin typeface="Times New Roman" panose="02020603050405020304" pitchFamily="18" charset="0"/>
                <a:cs typeface="Times New Roman" panose="02020603050405020304" pitchFamily="18" charset="0"/>
              </a:rPr>
              <a:t>:</a:t>
            </a:r>
            <a:endParaRPr lang="en-US" sz="1800" b="0" i="0" dirty="0">
              <a:effectLst/>
              <a:latin typeface="Times New Roman" panose="02020603050405020304" pitchFamily="18" charset="0"/>
              <a:cs typeface="Times New Roman" panose="02020603050405020304" pitchFamily="18" charset="0"/>
            </a:endParaRPr>
          </a:p>
          <a:p>
            <a:pPr marL="1143000" lvl="2" indent="-22860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A single decision tree trained on insurance claim data creates explicit if-else rules partitioning the feature space. While interpretable, a single tree overfits easily, is highly sensitive to small changes in training data, and produces unstable predictions — problems that Random Forest (an ensemble of 200 trees) directly addresses.</a:t>
            </a:r>
          </a:p>
          <a:p>
            <a:pPr marL="1143000" lvl="2" indent="-22860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Example: Used in early insurance analytics dashboards where explainability was </a:t>
            </a:r>
            <a:r>
              <a:rPr lang="en-US" sz="1800" b="0" i="0" dirty="0" err="1">
                <a:effectLst/>
                <a:latin typeface="Times New Roman" panose="02020603050405020304" pitchFamily="18" charset="0"/>
                <a:cs typeface="Times New Roman" panose="02020603050405020304" pitchFamily="18" charset="0"/>
              </a:rPr>
              <a:t>prioritised</a:t>
            </a:r>
            <a:r>
              <a:rPr lang="en-US" sz="1800" b="0" i="0" dirty="0">
                <a:effectLst/>
                <a:latin typeface="Times New Roman" panose="02020603050405020304" pitchFamily="18" charset="0"/>
                <a:cs typeface="Times New Roman" panose="02020603050405020304" pitchFamily="18" charset="0"/>
              </a:rPr>
              <a:t> over prediction accuracy.</a:t>
            </a:r>
          </a:p>
        </p:txBody>
      </p:sp>
    </p:spTree>
    <p:extLst>
      <p:ext uri="{BB962C8B-B14F-4D97-AF65-F5344CB8AC3E}">
        <p14:creationId xmlns:p14="http://schemas.microsoft.com/office/powerpoint/2010/main" val="140685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324600"/>
          </a:xfrm>
        </p:spPr>
        <p:txBody>
          <a:bodyPr>
            <a:normAutofit fontScale="85000" lnSpcReduction="20000"/>
          </a:bodyPr>
          <a:lstStyle/>
          <a:p>
            <a:pPr marL="0" indent="0" algn="l">
              <a:spcAft>
                <a:spcPts val="300"/>
              </a:spcAft>
              <a:buNone/>
            </a:pPr>
            <a:r>
              <a:rPr lang="en-US" sz="2000" b="1" dirty="0">
                <a:latin typeface="Times New Roman" panose="02020603050405020304" pitchFamily="18" charset="0"/>
                <a:cs typeface="Times New Roman" panose="02020603050405020304" pitchFamily="18" charset="0"/>
              </a:rPr>
              <a:t>LIMITATION OF EXISTING SYSTEM</a:t>
            </a:r>
            <a:endParaRPr lang="en-US" sz="2000" b="0" i="0" dirty="0">
              <a:effectLst/>
              <a:latin typeface="Times New Roman" panose="02020603050405020304" pitchFamily="18" charset="0"/>
              <a:cs typeface="Times New Roman" panose="02020603050405020304" pitchFamily="18" charset="0"/>
            </a:endParaRPr>
          </a:p>
          <a:p>
            <a:pPr marL="742950" lvl="1" indent="-285750" algn="l">
              <a:spcBef>
                <a:spcPts val="300"/>
              </a:spcBef>
              <a:spcAft>
                <a:spcPts val="300"/>
              </a:spcAft>
              <a:buFont typeface="Arial" panose="020B0604020202020204" pitchFamily="34" charset="0"/>
              <a:buChar char="•"/>
            </a:pPr>
            <a:r>
              <a:rPr lang="en-US" sz="1800" b="1" i="0" dirty="0">
                <a:effectLst/>
                <a:latin typeface="Times New Roman" panose="02020603050405020304" pitchFamily="18" charset="0"/>
                <a:cs typeface="Times New Roman" panose="02020603050405020304" pitchFamily="18" charset="0"/>
              </a:rPr>
              <a:t>Dependency on Physical Presence:</a:t>
            </a:r>
            <a:endParaRPr lang="en-US" sz="1800" b="0" i="0" dirty="0">
              <a:effectLst/>
              <a:latin typeface="Times New Roman" panose="02020603050405020304" pitchFamily="18" charset="0"/>
              <a:cs typeface="Times New Roman" panose="02020603050405020304" pitchFamily="18" charset="0"/>
            </a:endParaRPr>
          </a:p>
          <a:p>
            <a:pPr marL="1143000" lvl="2" indent="-22860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Excessive processing time and human dependency</a:t>
            </a:r>
          </a:p>
          <a:p>
            <a:pPr marL="742950" lvl="1" indent="-285750" algn="l">
              <a:spcBef>
                <a:spcPts val="300"/>
              </a:spcBef>
              <a:spcAft>
                <a:spcPts val="300"/>
              </a:spcAft>
              <a:buFont typeface="Arial" panose="020B0604020202020204" pitchFamily="34" charset="0"/>
              <a:buChar char="•"/>
            </a:pPr>
            <a:r>
              <a:rPr lang="en-US" sz="1800" b="1" i="0" dirty="0">
                <a:effectLst/>
                <a:latin typeface="Times New Roman" panose="02020603050405020304" pitchFamily="18" charset="0"/>
                <a:cs typeface="Times New Roman" panose="02020603050405020304" pitchFamily="18" charset="0"/>
              </a:rPr>
              <a:t>Heavyweight Deep Learning Models:</a:t>
            </a:r>
            <a:endParaRPr lang="en-US" sz="1800" b="0" i="0" dirty="0">
              <a:effectLst/>
              <a:latin typeface="Times New Roman" panose="02020603050405020304" pitchFamily="18" charset="0"/>
              <a:cs typeface="Times New Roman" panose="02020603050405020304" pitchFamily="18" charset="0"/>
            </a:endParaRPr>
          </a:p>
          <a:p>
            <a:pPr marL="1143000" lvl="2" indent="-22860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Struggles with variations such as scale, occlusion, rotation, lighting.</a:t>
            </a:r>
          </a:p>
          <a:p>
            <a:pPr marL="1143000" lvl="2" indent="-22860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Massively affects the model with slight variations.</a:t>
            </a:r>
          </a:p>
          <a:p>
            <a:pPr marL="742950" lvl="1" indent="-285750" algn="l">
              <a:spcBef>
                <a:spcPts val="300"/>
              </a:spcBef>
              <a:spcAft>
                <a:spcPts val="300"/>
              </a:spcAft>
              <a:buFont typeface="Arial" panose="020B0604020202020204" pitchFamily="34" charset="0"/>
              <a:buChar char="•"/>
            </a:pPr>
            <a:r>
              <a:rPr lang="en-US" sz="1800" b="1" i="0" dirty="0">
                <a:effectLst/>
                <a:latin typeface="Times New Roman" panose="02020603050405020304" pitchFamily="18" charset="0"/>
                <a:cs typeface="Times New Roman" panose="02020603050405020304" pitchFamily="18" charset="0"/>
              </a:rPr>
              <a:t>Limited generalization:</a:t>
            </a:r>
            <a:endParaRPr lang="en-US" sz="1800" b="0" i="0" dirty="0">
              <a:effectLst/>
              <a:latin typeface="Times New Roman" panose="02020603050405020304" pitchFamily="18" charset="0"/>
              <a:cs typeface="Times New Roman" panose="02020603050405020304" pitchFamily="18" charset="0"/>
            </a:endParaRPr>
          </a:p>
          <a:p>
            <a:pPr marL="1143000" lvl="2" indent="-22860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Earlier CNN-based damage detection approaches used architectures with tens of millions of parameters, making them impractical to deploy in lightweight web or mobile applications.</a:t>
            </a:r>
          </a:p>
          <a:p>
            <a:pPr lvl="1" indent="-228600">
              <a:spcBef>
                <a:spcPts val="300"/>
              </a:spcBef>
              <a:buFont typeface="Arial" panose="020B0604020202020204" pitchFamily="34" charset="0"/>
              <a:buChar char="•"/>
            </a:pPr>
            <a:r>
              <a:rPr lang="en-US" sz="1800" b="1" i="0" dirty="0">
                <a:effectLst/>
                <a:latin typeface="Times New Roman" panose="02020603050405020304" pitchFamily="18" charset="0"/>
                <a:cs typeface="Times New Roman" panose="02020603050405020304" pitchFamily="18" charset="0"/>
              </a:rPr>
              <a:t>No integration between detection and estimation:</a:t>
            </a:r>
            <a:endParaRPr lang="en-US" sz="1800" b="0" i="0" dirty="0">
              <a:effectLst/>
              <a:latin typeface="Times New Roman" panose="02020603050405020304" pitchFamily="18" charset="0"/>
              <a:cs typeface="Times New Roman" panose="02020603050405020304" pitchFamily="18" charset="0"/>
            </a:endParaRPr>
          </a:p>
          <a:p>
            <a:pPr marL="1143000" lvl="2" indent="-228600" algn="l">
              <a:spcBef>
                <a:spcPts val="300"/>
              </a:spcBef>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Existing image-based damage detection systems and claim amount estimation systems operate in complete isolation. The output of a damage classifier is never automatically fed into a financial prediction model</a:t>
            </a:r>
          </a:p>
          <a:p>
            <a:pPr lvl="1" indent="-228600">
              <a:spcBef>
                <a:spcPts val="300"/>
              </a:spcBef>
              <a:buFont typeface="Arial" panose="020B0604020202020204" pitchFamily="34" charset="0"/>
              <a:buChar char="•"/>
            </a:pPr>
            <a:r>
              <a:rPr lang="en-US" sz="1800" b="1" i="0" dirty="0">
                <a:effectLst/>
                <a:latin typeface="Times New Roman" panose="02020603050405020304" pitchFamily="18" charset="0"/>
                <a:cs typeface="Times New Roman" panose="02020603050405020304" pitchFamily="18" charset="0"/>
              </a:rPr>
              <a:t>Linear Models ignoring feature interaction:</a:t>
            </a:r>
          </a:p>
          <a:p>
            <a:pPr lvl="2">
              <a:spcBef>
                <a:spcPts val="300"/>
              </a:spcBef>
            </a:pPr>
            <a:r>
              <a:rPr lang="en-US" sz="2100" i="0" dirty="0">
                <a:effectLst/>
                <a:latin typeface="Times New Roman" panose="02020603050405020304" pitchFamily="18" charset="0"/>
                <a:cs typeface="Times New Roman" panose="02020603050405020304" pitchFamily="18" charset="0"/>
              </a:rPr>
              <a:t>Statistical regression approaches used in traditional insurance analytics assume simple linear relationships between input variables and claim amounts. In reality, factors like brand tier, fuel type, vehicle age, and damage severity interact in highly non-linear ways that linear models fundamentally cannot capture.</a:t>
            </a:r>
          </a:p>
          <a:p>
            <a:pPr lvl="2">
              <a:spcBef>
                <a:spcPts val="300"/>
              </a:spcBef>
            </a:pPr>
            <a:endParaRPr lang="en-US" sz="2100" i="0" dirty="0">
              <a:effectLst/>
              <a:latin typeface="Times New Roman" panose="02020603050405020304" pitchFamily="18" charset="0"/>
              <a:cs typeface="Times New Roman" panose="02020603050405020304" pitchFamily="18" charset="0"/>
            </a:endParaRPr>
          </a:p>
          <a:p>
            <a:pPr marL="0" indent="0" algn="l">
              <a:spcBef>
                <a:spcPts val="300"/>
              </a:spcBef>
              <a:spcAft>
                <a:spcPts val="300"/>
              </a:spcAft>
              <a:buNone/>
            </a:pPr>
            <a:r>
              <a:rPr lang="en-US" sz="2100" b="1" i="0" dirty="0">
                <a:effectLst/>
                <a:latin typeface="Times New Roman" panose="02020603050405020304" pitchFamily="18" charset="0"/>
                <a:cs typeface="Times New Roman" panose="02020603050405020304" pitchFamily="18" charset="0"/>
              </a:rPr>
              <a:t>Conclusion:</a:t>
            </a:r>
          </a:p>
          <a:p>
            <a:pPr marL="0" indent="0" algn="l">
              <a:spcBef>
                <a:spcPts val="300"/>
              </a:spcBef>
              <a:spcAft>
                <a:spcPts val="300"/>
              </a:spcAft>
              <a:buNone/>
            </a:pPr>
            <a:r>
              <a:rPr lang="en-US" sz="2100" b="0" i="0" dirty="0">
                <a:effectLst/>
                <a:latin typeface="Times New Roman" panose="02020603050405020304" pitchFamily="18" charset="0"/>
                <a:cs typeface="Times New Roman" panose="02020603050405020304" pitchFamily="18" charset="0"/>
              </a:rPr>
              <a:t>The proposed system addresses these limitations by combining MobileNetV2 Transfer Learning for efficient, image-based damage detection — eliminating the need for physical presence — with a Random Forest Regressor that captures non-linear interactions between vehicle attributes and claim amounts.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4000" dirty="0">
                <a:latin typeface="Times New Roman" panose="02020603050405020304" pitchFamily="18" charset="0"/>
                <a:cs typeface="Times New Roman" panose="02020603050405020304" pitchFamily="18" charset="0"/>
              </a:rPr>
              <a:t>PROPOSED SYSTEM</a:t>
            </a:r>
          </a:p>
        </p:txBody>
      </p:sp>
      <p:sp>
        <p:nvSpPr>
          <p:cNvPr id="3" name="Content Placeholder 2"/>
          <p:cNvSpPr>
            <a:spLocks noGrp="1"/>
          </p:cNvSpPr>
          <p:nvPr>
            <p:ph idx="1"/>
          </p:nvPr>
        </p:nvSpPr>
        <p:spPr>
          <a:xfrm>
            <a:off x="491565" y="1066800"/>
            <a:ext cx="8229600" cy="5715000"/>
          </a:xfrm>
        </p:spPr>
        <p:txBody>
          <a:bodyPr>
            <a:noAutofit/>
          </a:bodyPr>
          <a:lstStyle/>
          <a:p>
            <a:pPr marL="0" indent="0" algn="l">
              <a:buNone/>
            </a:pPr>
            <a:r>
              <a:rPr lang="en-IN" sz="2200" b="1" i="0" dirty="0">
                <a:effectLst/>
                <a:latin typeface="Times New Roman" panose="02020603050405020304" pitchFamily="18" charset="0"/>
                <a:cs typeface="Times New Roman" panose="02020603050405020304" pitchFamily="18" charset="0"/>
              </a:rPr>
              <a:t>Proposed System - Overview</a:t>
            </a:r>
          </a:p>
          <a:p>
            <a:pPr marL="0" indent="0" algn="l">
              <a:spcAft>
                <a:spcPts val="300"/>
              </a:spcAft>
              <a:buNone/>
            </a:pPr>
            <a:r>
              <a:rPr lang="en-IN" sz="2000" b="1" i="0" dirty="0">
                <a:effectLst/>
                <a:latin typeface="Times New Roman" panose="02020603050405020304" pitchFamily="18" charset="0"/>
                <a:cs typeface="Times New Roman" panose="02020603050405020304" pitchFamily="18" charset="0"/>
              </a:rPr>
              <a:t>      Objective:</a:t>
            </a:r>
            <a:endParaRPr lang="en-IN" sz="2000" b="0" i="0" dirty="0">
              <a:effectLst/>
              <a:latin typeface="Times New Roman" panose="02020603050405020304" pitchFamily="18" charset="0"/>
              <a:cs typeface="Times New Roman" panose="02020603050405020304" pitchFamily="18" charset="0"/>
            </a:endParaRPr>
          </a:p>
          <a:p>
            <a:pPr marL="742950" lvl="1" indent="-285750" algn="l">
              <a:spcBef>
                <a:spcPts val="300"/>
              </a:spcBef>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To automatically detect vehicle damage from uploaded images and estimate insurance claim amounts using AI, eliminating the need for manual inspection for initial assessments.</a:t>
            </a:r>
          </a:p>
          <a:p>
            <a:pPr marL="457200" lvl="1" indent="0" algn="l">
              <a:spcBef>
                <a:spcPts val="300"/>
              </a:spcBef>
              <a:buNone/>
            </a:pPr>
            <a:r>
              <a:rPr lang="en-IN" sz="2000" b="1" i="0" dirty="0">
                <a:effectLst/>
                <a:latin typeface="Times New Roman" panose="02020603050405020304" pitchFamily="18" charset="0"/>
                <a:cs typeface="Times New Roman" panose="02020603050405020304" pitchFamily="18" charset="0"/>
              </a:rPr>
              <a:t>Key Features:</a:t>
            </a:r>
            <a:endParaRPr lang="en-IN" sz="2000" b="0" i="0" dirty="0">
              <a:effectLst/>
              <a:latin typeface="Times New Roman" panose="02020603050405020304" pitchFamily="18" charset="0"/>
              <a:cs typeface="Times New Roman" panose="02020603050405020304" pitchFamily="18" charset="0"/>
            </a:endParaRPr>
          </a:p>
          <a:p>
            <a:pPr marL="742950" lvl="1" indent="-285750" algn="l">
              <a:spcBef>
                <a:spcPts val="300"/>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Automated Damage Detection: </a:t>
            </a:r>
            <a:r>
              <a:rPr lang="en-US" sz="2000" dirty="0">
                <a:latin typeface="Times New Roman" panose="02020603050405020304" pitchFamily="18" charset="0"/>
                <a:cs typeface="Times New Roman" panose="02020603050405020304" pitchFamily="18" charset="0"/>
              </a:rPr>
              <a:t>Usage of  EfficientNetB0 (Transfer Learning) to classify vehicle images as damaged or undamaged with a confidence score.</a:t>
            </a:r>
          </a:p>
          <a:p>
            <a:pPr marL="742950" lvl="1" indent="-285750" algn="l">
              <a:spcBef>
                <a:spcPts val="300"/>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Severity Classification: </a:t>
            </a:r>
            <a:r>
              <a:rPr lang="en-US" sz="2000" dirty="0">
                <a:latin typeface="Times New Roman" panose="02020603050405020304" pitchFamily="18" charset="0"/>
                <a:cs typeface="Times New Roman" panose="02020603050405020304" pitchFamily="18" charset="0"/>
              </a:rPr>
              <a:t>Mapping model confidence scores to damage severity levels (Minor / Moderate / Severe) to guide claim processing.</a:t>
            </a:r>
          </a:p>
          <a:p>
            <a:pPr marL="742950" lvl="1" indent="-285750" algn="l">
              <a:spcBef>
                <a:spcPts val="300"/>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AI-Powered Claim Estimation: </a:t>
            </a:r>
            <a:r>
              <a:rPr lang="en-US" sz="2000" dirty="0">
                <a:latin typeface="Times New Roman" panose="02020603050405020304" pitchFamily="18" charset="0"/>
                <a:cs typeface="Times New Roman" panose="02020603050405020304" pitchFamily="18" charset="0"/>
              </a:rPr>
              <a:t>Usage of a Random Forest Regressor trained on real insurance claim data to predict the vehicle claim amount based on damage severity and vehicle attributes.</a:t>
            </a:r>
          </a:p>
          <a:p>
            <a:pPr marL="742950" lvl="1" indent="-285750" algn="l">
              <a:spcBef>
                <a:spcPts val="300"/>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Session-Based Data Flow: </a:t>
            </a:r>
            <a:r>
              <a:rPr lang="en-US" sz="2000" dirty="0">
                <a:latin typeface="Times New Roman" panose="02020603050405020304" pitchFamily="18" charset="0"/>
                <a:cs typeface="Times New Roman" panose="02020603050405020304" pitchFamily="18" charset="0"/>
              </a:rPr>
              <a:t>Damage severity and confidence automatically carry over from the detection page to the claim estimator via session state, enabling a seamless two-step workflow.</a:t>
            </a:r>
          </a:p>
          <a:p>
            <a:pPr marL="457200" lvl="1" indent="0" algn="l">
              <a:spcBef>
                <a:spcPts val="300"/>
              </a:spcBef>
              <a:buNone/>
            </a:pPr>
            <a:endParaRPr lang="en-IN" sz="2000" b="0" i="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D18CEF-BD86-ACEB-DEA0-C41488BDAAC7}"/>
              </a:ext>
            </a:extLst>
          </p:cNvPr>
          <p:cNvSpPr>
            <a:spLocks noGrp="1"/>
          </p:cNvSpPr>
          <p:nvPr>
            <p:ph idx="1"/>
          </p:nvPr>
        </p:nvSpPr>
        <p:spPr>
          <a:xfrm>
            <a:off x="152400" y="152400"/>
            <a:ext cx="8229600" cy="4525963"/>
          </a:xfrm>
        </p:spPr>
        <p:txBody>
          <a:bodyPr>
            <a:normAutofit fontScale="92500" lnSpcReduction="20000"/>
          </a:bodyPr>
          <a:lstStyle/>
          <a:p>
            <a:pPr lvl="1">
              <a:spcBef>
                <a:spcPts val="300"/>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Rule-Based Fallback: </a:t>
            </a:r>
            <a:r>
              <a:rPr lang="en-US" sz="2000" dirty="0">
                <a:latin typeface="Times New Roman" panose="02020603050405020304" pitchFamily="18" charset="0"/>
                <a:cs typeface="Times New Roman" panose="02020603050405020304" pitchFamily="18" charset="0"/>
              </a:rPr>
              <a:t>A formula-driven estimation system (based on brand tier, fuel type, depreciation, and severity) activates automatically if the ML model is unavailable.</a:t>
            </a:r>
          </a:p>
          <a:p>
            <a:pPr lvl="1">
              <a:spcBef>
                <a:spcPts val="300"/>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Interactive Claim Breakdown: </a:t>
            </a:r>
            <a:r>
              <a:rPr lang="en-US" sz="2000" dirty="0">
                <a:latin typeface="Times New Roman" panose="02020603050405020304" pitchFamily="18" charset="0"/>
                <a:cs typeface="Times New Roman" panose="02020603050405020304" pitchFamily="18" charset="0"/>
              </a:rPr>
              <a:t>Waterfall chart visualization showing how each factor (severity, brand, fuel type, depreciation) contributes to the final estimated claim amount.</a:t>
            </a:r>
          </a:p>
          <a:p>
            <a:pPr marL="457200" lvl="1" indent="0">
              <a:spcBef>
                <a:spcPts val="300"/>
              </a:spcBef>
              <a:buNone/>
            </a:pPr>
            <a:endParaRPr lang="en-IN" sz="2000" dirty="0">
              <a:latin typeface="Times New Roman" panose="02020603050405020304" pitchFamily="18" charset="0"/>
              <a:cs typeface="Times New Roman" panose="02020603050405020304" pitchFamily="18" charset="0"/>
            </a:endParaRPr>
          </a:p>
          <a:p>
            <a:pPr marL="0" indent="0">
              <a:spcBef>
                <a:spcPts val="300"/>
              </a:spcBef>
              <a:spcAft>
                <a:spcPts val="300"/>
              </a:spcAft>
              <a:buNone/>
            </a:pPr>
            <a:r>
              <a:rPr lang="en-IN" sz="2000" b="1" dirty="0">
                <a:latin typeface="Times New Roman" panose="02020603050405020304" pitchFamily="18" charset="0"/>
                <a:cs typeface="Times New Roman" panose="02020603050405020304" pitchFamily="18" charset="0"/>
              </a:rPr>
              <a:t>Advantages:</a:t>
            </a:r>
            <a:endParaRPr lang="en-IN" sz="2000" dirty="0">
              <a:latin typeface="Times New Roman" panose="02020603050405020304" pitchFamily="18" charset="0"/>
              <a:cs typeface="Times New Roman" panose="02020603050405020304" pitchFamily="18" charset="0"/>
            </a:endParaRPr>
          </a:p>
          <a:p>
            <a:pPr lvl="1">
              <a:spcBef>
                <a:spcPts val="3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Handles both unstructured data (images) and structured data (tabular vehicle records) within a single unified system.</a:t>
            </a:r>
          </a:p>
          <a:p>
            <a:pPr lvl="1">
              <a:spcBef>
                <a:spcPts val="3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Transfer learning on EfficientNetB0 achieves strong classification performance with a small dataset (13,945 images) by leveraging ImageNet pretrained weights.</a:t>
            </a:r>
          </a:p>
          <a:p>
            <a:pPr lvl="1">
              <a:spcBef>
                <a:spcPts val="3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Ensemble-based Random Forest prediction reduces variance and handles non-linear relationships between vehicle attributes and claim amounts.</a:t>
            </a:r>
          </a:p>
          <a:p>
            <a:pPr lvl="1">
              <a:spcBef>
                <a:spcPts val="3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Fully browser-based web application — no installation required for end users, accessible via </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a:t>
            </a:r>
            <a:endParaRPr lang="en-IN" dirty="0"/>
          </a:p>
        </p:txBody>
      </p:sp>
    </p:spTree>
    <p:extLst>
      <p:ext uri="{BB962C8B-B14F-4D97-AF65-F5344CB8AC3E}">
        <p14:creationId xmlns:p14="http://schemas.microsoft.com/office/powerpoint/2010/main" val="2652767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Architecture Diagram </a:t>
            </a:r>
          </a:p>
        </p:txBody>
      </p:sp>
      <p:pic>
        <p:nvPicPr>
          <p:cNvPr id="7" name="Content Placeholder 6">
            <a:extLst>
              <a:ext uri="{FF2B5EF4-FFF2-40B4-BE49-F238E27FC236}">
                <a16:creationId xmlns:a16="http://schemas.microsoft.com/office/drawing/2014/main" id="{4B9BCE9B-AB01-B21B-5B52-FD066FC758C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57200" y="1617150"/>
            <a:ext cx="8229600" cy="449206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
            <a:ext cx="8382000" cy="5867400"/>
          </a:xfrm>
        </p:spPr>
        <p:txBody>
          <a:bodyPr>
            <a:noAutofit/>
          </a:bodyPr>
          <a:lstStyle/>
          <a:p>
            <a:pPr marL="0" indent="0" algn="l">
              <a:buNone/>
            </a:pPr>
            <a:r>
              <a:rPr lang="en-US" sz="2000" b="1" i="0" dirty="0">
                <a:effectLst/>
                <a:latin typeface="Times New Roman" panose="02020603050405020304" pitchFamily="18" charset="0"/>
                <a:cs typeface="Times New Roman" panose="02020603050405020304" pitchFamily="18" charset="0"/>
              </a:rPr>
              <a:t> </a:t>
            </a:r>
            <a:r>
              <a:rPr lang="en-US" sz="2200" b="1" i="0" dirty="0">
                <a:effectLst/>
                <a:latin typeface="Times New Roman" panose="02020603050405020304" pitchFamily="18" charset="0"/>
                <a:cs typeface="Times New Roman" panose="02020603050405020304" pitchFamily="18" charset="0"/>
              </a:rPr>
              <a:t>Proposed System - Model Architecture</a:t>
            </a:r>
          </a:p>
          <a:p>
            <a:pPr marL="0" indent="0" algn="l">
              <a:spcAft>
                <a:spcPts val="300"/>
              </a:spcAft>
              <a:buNone/>
            </a:pPr>
            <a:r>
              <a:rPr lang="en-US" sz="2000" b="1" i="0" dirty="0">
                <a:effectLst/>
                <a:latin typeface="Times New Roman" panose="02020603050405020304" pitchFamily="18" charset="0"/>
                <a:cs typeface="Times New Roman" panose="02020603050405020304" pitchFamily="18" charset="0"/>
              </a:rPr>
              <a:t> Model-1 : EfficientNetB0 (Damage Detection)</a:t>
            </a:r>
          </a:p>
          <a:p>
            <a:pPr marL="0" indent="0">
              <a:spcAft>
                <a:spcPts val="300"/>
              </a:spcAft>
              <a:buNone/>
            </a:pPr>
            <a:r>
              <a:rPr lang="en-US" sz="2000" b="1" dirty="0">
                <a:latin typeface="Times New Roman" panose="02020603050405020304" pitchFamily="18" charset="0"/>
                <a:cs typeface="Times New Roman" panose="02020603050405020304" pitchFamily="18" charset="0"/>
              </a:rPr>
              <a:t> Backbone (feature extractor):</a:t>
            </a:r>
            <a:endParaRPr lang="en-IN" sz="2000" dirty="0">
              <a:latin typeface="Times New Roman" panose="02020603050405020304" pitchFamily="18" charset="0"/>
              <a:cs typeface="Times New Roman" panose="02020603050405020304" pitchFamily="18" charset="0"/>
            </a:endParaRPr>
          </a:p>
          <a:p>
            <a:pPr lvl="1">
              <a:spcBef>
                <a:spcPts val="300"/>
              </a:spcBef>
              <a:spcAft>
                <a:spcPts val="300"/>
              </a:spcAf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EfficientNetB0 (Pre-trained on ImageNet):</a:t>
            </a:r>
          </a:p>
          <a:p>
            <a:pPr lvl="2">
              <a:spcBef>
                <a:spcPts val="300"/>
              </a:spcBef>
              <a:spcAft>
                <a:spcPts val="300"/>
              </a:spcAft>
              <a:buFont typeface="Courier New" panose="02070309020205020404" pitchFamily="49" charset="0"/>
              <a:buChar char="o"/>
            </a:pPr>
            <a:r>
              <a:rPr lang="en-IN" sz="1600" b="1" dirty="0" err="1">
                <a:latin typeface="Times New Roman" panose="02020603050405020304" pitchFamily="18" charset="0"/>
                <a:cs typeface="Times New Roman" panose="02020603050405020304" pitchFamily="18" charset="0"/>
              </a:rPr>
              <a:t>Depthwise</a:t>
            </a:r>
            <a:r>
              <a:rPr lang="en-IN" sz="1600" b="1" dirty="0">
                <a:latin typeface="Times New Roman" panose="02020603050405020304" pitchFamily="18" charset="0"/>
                <a:cs typeface="Times New Roman" panose="02020603050405020304" pitchFamily="18" charset="0"/>
              </a:rPr>
              <a:t> Separable Convolutions: </a:t>
            </a:r>
            <a:r>
              <a:rPr lang="en-IN" sz="1600" dirty="0">
                <a:latin typeface="Times New Roman" panose="02020603050405020304" pitchFamily="18" charset="0"/>
                <a:cs typeface="Times New Roman" panose="02020603050405020304" pitchFamily="18" charset="0"/>
              </a:rPr>
              <a:t>Splits standard convolution into </a:t>
            </a:r>
            <a:r>
              <a:rPr lang="en-IN" sz="1600" dirty="0" err="1">
                <a:latin typeface="Times New Roman" panose="02020603050405020304" pitchFamily="18" charset="0"/>
                <a:cs typeface="Times New Roman" panose="02020603050405020304" pitchFamily="18" charset="0"/>
              </a:rPr>
              <a:t>depthwise</a:t>
            </a:r>
            <a:r>
              <a:rPr lang="en-IN" sz="1600" dirty="0">
                <a:latin typeface="Times New Roman" panose="02020603050405020304" pitchFamily="18" charset="0"/>
                <a:cs typeface="Times New Roman" panose="02020603050405020304" pitchFamily="18" charset="0"/>
              </a:rPr>
              <a:t> + pointwise convolutions, drastically reducing parameters and computation.</a:t>
            </a:r>
          </a:p>
          <a:p>
            <a:pPr lvl="2">
              <a:spcBef>
                <a:spcPts val="300"/>
              </a:spcBef>
              <a:spcAft>
                <a:spcPts val="300"/>
              </a:spcAft>
              <a:buFont typeface="Courier New" panose="02070309020205020404" pitchFamily="49" charset="0"/>
              <a:buChar char="o"/>
            </a:pPr>
            <a:r>
              <a:rPr lang="en-IN" sz="1600" b="1" dirty="0">
                <a:latin typeface="Times New Roman" panose="02020603050405020304" pitchFamily="18" charset="0"/>
                <a:cs typeface="Times New Roman" panose="02020603050405020304" pitchFamily="18" charset="0"/>
              </a:rPr>
              <a:t>Inverted Residual Blocks (Bottleneck layers): </a:t>
            </a:r>
            <a:r>
              <a:rPr lang="en-IN" sz="1600" dirty="0">
                <a:latin typeface="Times New Roman" panose="02020603050405020304" pitchFamily="18" charset="0"/>
                <a:cs typeface="Times New Roman" panose="02020603050405020304" pitchFamily="18" charset="0"/>
              </a:rPr>
              <a:t>Expands low-dimensional features to high-dimensional space, applies </a:t>
            </a:r>
            <a:r>
              <a:rPr lang="en-IN" sz="1600" dirty="0" err="1">
                <a:latin typeface="Times New Roman" panose="02020603050405020304" pitchFamily="18" charset="0"/>
                <a:cs typeface="Times New Roman" panose="02020603050405020304" pitchFamily="18" charset="0"/>
              </a:rPr>
              <a:t>depthwise</a:t>
            </a:r>
            <a:r>
              <a:rPr lang="en-IN" sz="1600" dirty="0">
                <a:latin typeface="Times New Roman" panose="02020603050405020304" pitchFamily="18" charset="0"/>
                <a:cs typeface="Times New Roman" panose="02020603050405020304" pitchFamily="18" charset="0"/>
              </a:rPr>
              <a:t> convolution, then compresses back  improving representational power.</a:t>
            </a:r>
          </a:p>
          <a:p>
            <a:pPr lvl="2">
              <a:spcBef>
                <a:spcPts val="300"/>
              </a:spcBef>
              <a:spcAft>
                <a:spcPts val="300"/>
              </a:spcAft>
              <a:buFont typeface="Courier New" panose="02070309020205020404" pitchFamily="49" charset="0"/>
              <a:buChar char="o"/>
            </a:pPr>
            <a:r>
              <a:rPr lang="en-IN" sz="1600" b="1" dirty="0">
                <a:latin typeface="Times New Roman" panose="02020603050405020304" pitchFamily="18" charset="0"/>
                <a:cs typeface="Times New Roman" panose="02020603050405020304" pitchFamily="18" charset="0"/>
              </a:rPr>
              <a:t>Batch Normalization: </a:t>
            </a:r>
            <a:r>
              <a:rPr lang="en-IN" sz="1600" dirty="0">
                <a:latin typeface="Times New Roman" panose="02020603050405020304" pitchFamily="18" charset="0"/>
                <a:cs typeface="Times New Roman" panose="02020603050405020304" pitchFamily="18" charset="0"/>
              </a:rPr>
              <a:t>Applied after every convolutional layer to normalize outputs and stabilize training.</a:t>
            </a:r>
          </a:p>
          <a:p>
            <a:pPr lvl="2">
              <a:spcBef>
                <a:spcPts val="300"/>
              </a:spcBef>
              <a:spcAft>
                <a:spcPts val="300"/>
              </a:spcAft>
              <a:buFont typeface="Courier New" panose="02070309020205020404" pitchFamily="49" charset="0"/>
              <a:buChar char="o"/>
            </a:pPr>
            <a:r>
              <a:rPr lang="en-IN" sz="1600" b="1" dirty="0">
                <a:latin typeface="Times New Roman" panose="02020603050405020304" pitchFamily="18" charset="0"/>
                <a:cs typeface="Times New Roman" panose="02020603050405020304" pitchFamily="18" charset="0"/>
              </a:rPr>
              <a:t>ReLU6 Activation: </a:t>
            </a:r>
            <a:r>
              <a:rPr lang="en-IN" sz="1600" dirty="0">
                <a:latin typeface="Times New Roman" panose="02020603050405020304" pitchFamily="18" charset="0"/>
                <a:cs typeface="Times New Roman" panose="02020603050405020304" pitchFamily="18" charset="0"/>
              </a:rPr>
              <a:t>Bounded activation function (clips at 6) for better performance on low-precision hardware.</a:t>
            </a:r>
          </a:p>
          <a:p>
            <a:pPr lvl="2">
              <a:spcBef>
                <a:spcPts val="300"/>
              </a:spcBef>
              <a:spcAft>
                <a:spcPts val="300"/>
              </a:spcAft>
              <a:buFont typeface="Courier New" panose="02070309020205020404" pitchFamily="49" charset="0"/>
              <a:buChar char="o"/>
            </a:pPr>
            <a:r>
              <a:rPr lang="en-IN" sz="1600" b="1" dirty="0">
                <a:latin typeface="Times New Roman" panose="02020603050405020304" pitchFamily="18" charset="0"/>
                <a:cs typeface="Times New Roman" panose="02020603050405020304" pitchFamily="18" charset="0"/>
              </a:rPr>
              <a:t>Linear Bottlenecks: </a:t>
            </a:r>
            <a:r>
              <a:rPr lang="en-IN" sz="1600" dirty="0">
                <a:latin typeface="Times New Roman" panose="02020603050405020304" pitchFamily="18" charset="0"/>
                <a:cs typeface="Times New Roman" panose="02020603050405020304" pitchFamily="18" charset="0"/>
              </a:rPr>
              <a:t>Prevents information loss when compressing feature maps.</a:t>
            </a:r>
            <a:endParaRPr lang="en-IN" sz="1600" i="0" dirty="0">
              <a:effectLst/>
              <a:latin typeface="Times New Roman" panose="02020603050405020304" pitchFamily="18" charset="0"/>
              <a:cs typeface="Times New Roman" panose="02020603050405020304" pitchFamily="18" charset="0"/>
            </a:endParaRPr>
          </a:p>
          <a:p>
            <a:pPr marL="0" lvl="2" indent="0" algn="l">
              <a:spcBef>
                <a:spcPts val="300"/>
              </a:spcBef>
              <a:buNone/>
            </a:pPr>
            <a:r>
              <a:rPr lang="en-US" sz="2000" b="1" i="0" dirty="0">
                <a:effectLst/>
                <a:latin typeface="Times New Roman" panose="02020603050405020304" pitchFamily="18" charset="0"/>
                <a:cs typeface="Times New Roman" panose="02020603050405020304" pitchFamily="18" charset="0"/>
              </a:rPr>
              <a:t>Custom Classification Head (Task-Specific Layers):</a:t>
            </a:r>
          </a:p>
          <a:p>
            <a:pPr marL="1143000" lvl="2" indent="-228600" algn="l">
              <a:spcBef>
                <a:spcPts val="300"/>
              </a:spcBef>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GlobalAveragePooling2D: </a:t>
            </a:r>
            <a:r>
              <a:rPr lang="en-IN" sz="2000" i="0" dirty="0">
                <a:effectLst/>
                <a:latin typeface="Times New Roman" panose="02020603050405020304" pitchFamily="18" charset="0"/>
                <a:cs typeface="Times New Roman" panose="02020603050405020304" pitchFamily="18" charset="0"/>
              </a:rPr>
              <a:t>Collapses spatial dimensions (height × width) into a single vector per feature map, reducing overfitting compared to Flatten.</a:t>
            </a:r>
          </a:p>
          <a:p>
            <a:pPr marL="1143000" lvl="2" indent="-228600" algn="l">
              <a:spcBef>
                <a:spcPts val="300"/>
              </a:spcBef>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Dense(128, </a:t>
            </a:r>
            <a:r>
              <a:rPr lang="en-IN" sz="2000" b="1" i="0" dirty="0" err="1">
                <a:effectLst/>
                <a:latin typeface="Times New Roman" panose="02020603050405020304" pitchFamily="18" charset="0"/>
                <a:cs typeface="Times New Roman" panose="02020603050405020304" pitchFamily="18" charset="0"/>
              </a:rPr>
              <a:t>ReLU</a:t>
            </a:r>
            <a:r>
              <a:rPr lang="en-IN" sz="2000" b="1" i="0" dirty="0">
                <a:effectLst/>
                <a:latin typeface="Times New Roman" panose="02020603050405020304" pitchFamily="18" charset="0"/>
                <a:cs typeface="Times New Roman" panose="02020603050405020304" pitchFamily="18" charset="0"/>
              </a:rPr>
              <a:t>): Fully connected layer for high-level feature learning.</a:t>
            </a:r>
          </a:p>
          <a:p>
            <a:pPr marL="1143000" lvl="2" indent="-228600" algn="l">
              <a:spcBef>
                <a:spcPts val="300"/>
              </a:spcBef>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Dropout(0.5): </a:t>
            </a:r>
            <a:r>
              <a:rPr lang="en-IN" sz="2000" i="0" dirty="0">
                <a:effectLst/>
                <a:latin typeface="Times New Roman" panose="02020603050405020304" pitchFamily="18" charset="0"/>
                <a:cs typeface="Times New Roman" panose="02020603050405020304" pitchFamily="18" charset="0"/>
              </a:rPr>
              <a:t>Randomly drops 50% of neurons during training</a:t>
            </a:r>
            <a:endParaRPr lang="en-US" sz="2000" i="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594518"/>
            <a:ext cx="8229600" cy="5668963"/>
          </a:xfrm>
        </p:spPr>
        <p:txBody>
          <a:bodyPr>
            <a:normAutofit/>
          </a:bodyPr>
          <a:lstStyle/>
          <a:p>
            <a:pPr marL="0" lvl="1" indent="0" algn="l">
              <a:spcBef>
                <a:spcPts val="300"/>
              </a:spcBef>
              <a:spcAft>
                <a:spcPts val="300"/>
              </a:spcAft>
              <a:buNone/>
            </a:pPr>
            <a:r>
              <a:rPr lang="en-IN" sz="2000" b="1" i="0" dirty="0">
                <a:effectLst/>
                <a:latin typeface="Times New Roman" panose="02020603050405020304" pitchFamily="18" charset="0"/>
                <a:cs typeface="Times New Roman" panose="02020603050405020304" pitchFamily="18" charset="0"/>
              </a:rPr>
              <a:t>	</a:t>
            </a:r>
            <a:r>
              <a:rPr lang="en-IN" sz="2000" i="0" dirty="0">
                <a:effectLst/>
                <a:latin typeface="Times New Roman" panose="02020603050405020304" pitchFamily="18" charset="0"/>
                <a:cs typeface="Times New Roman" panose="02020603050405020304" pitchFamily="18" charset="0"/>
              </a:rPr>
              <a:t>to prevent overfitting.</a:t>
            </a:r>
          </a:p>
          <a:p>
            <a:pPr marL="0" lvl="1" indent="0" algn="l">
              <a:spcBef>
                <a:spcPts val="300"/>
              </a:spcBef>
              <a:spcAft>
                <a:spcPts val="300"/>
              </a:spcAft>
              <a:buNone/>
            </a:pPr>
            <a:r>
              <a:rPr lang="en-IN" sz="2000" b="1" i="0" dirty="0">
                <a:effectLst/>
                <a:latin typeface="Times New Roman" panose="02020603050405020304" pitchFamily="18" charset="0"/>
                <a:cs typeface="Times New Roman" panose="02020603050405020304" pitchFamily="18" charset="0"/>
              </a:rPr>
              <a:t>Fine-Tuning:</a:t>
            </a:r>
          </a:p>
          <a:p>
            <a:pPr marL="742950" lvl="1" indent="-285750" algn="l">
              <a:spcBef>
                <a:spcPts val="300"/>
              </a:spcBef>
              <a:spcAft>
                <a:spcPts val="300"/>
              </a:spcAft>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Phase 1 (Feature Extraction):</a:t>
            </a:r>
          </a:p>
          <a:p>
            <a:pPr marL="457200" lvl="1" indent="0" algn="l">
              <a:spcBef>
                <a:spcPts val="300"/>
              </a:spcBef>
              <a:spcAft>
                <a:spcPts val="300"/>
              </a:spcAft>
              <a:buNone/>
            </a:pPr>
            <a:r>
              <a:rPr lang="en-US" sz="2000" b="0" i="0" dirty="0">
                <a:effectLst/>
                <a:latin typeface="Times New Roman" panose="02020603050405020304" pitchFamily="18" charset="0"/>
                <a:cs typeface="Times New Roman" panose="02020603050405020304" pitchFamily="18" charset="0"/>
              </a:rPr>
              <a:t>	All EfficientNetB0 backbone layers are frozen; only the custom head is 	trained with </a:t>
            </a:r>
            <a:r>
              <a:rPr lang="en-US" sz="2000" b="0" i="0" dirty="0" err="1">
                <a:effectLst/>
                <a:latin typeface="Times New Roman" panose="02020603050405020304" pitchFamily="18" charset="0"/>
                <a:cs typeface="Times New Roman" panose="02020603050405020304" pitchFamily="18" charset="0"/>
              </a:rPr>
              <a:t>lr</a:t>
            </a:r>
            <a:r>
              <a:rPr lang="en-US" sz="2000" b="0" i="0" dirty="0">
                <a:effectLst/>
                <a:latin typeface="Times New Roman" panose="02020603050405020304" pitchFamily="18" charset="0"/>
                <a:cs typeface="Times New Roman" panose="02020603050405020304" pitchFamily="18" charset="0"/>
              </a:rPr>
              <a:t>=0.001.</a:t>
            </a:r>
            <a:endParaRPr lang="en-IN" sz="2000" b="0" i="0" dirty="0">
              <a:effectLst/>
              <a:latin typeface="Times New Roman" panose="02020603050405020304" pitchFamily="18" charset="0"/>
              <a:cs typeface="Times New Roman" panose="02020603050405020304" pitchFamily="18" charset="0"/>
            </a:endParaRPr>
          </a:p>
          <a:p>
            <a:pPr marL="742950" lvl="1" indent="-285750" algn="l">
              <a:spcBef>
                <a:spcPts val="300"/>
              </a:spcBef>
              <a:spcAft>
                <a:spcPts val="300"/>
              </a:spcAft>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Phase 2 (Fine-Tuning):</a:t>
            </a:r>
            <a:endParaRPr lang="en-IN" sz="2000" b="0" i="0" dirty="0">
              <a:effectLst/>
              <a:latin typeface="Times New Roman" panose="02020603050405020304" pitchFamily="18" charset="0"/>
              <a:cs typeface="Times New Roman" panose="02020603050405020304" pitchFamily="18" charset="0"/>
            </a:endParaRPr>
          </a:p>
          <a:p>
            <a:pPr marL="914400" lvl="2" indent="0" algn="l">
              <a:spcBef>
                <a:spcPts val="300"/>
              </a:spcBef>
              <a:buNone/>
            </a:pPr>
            <a:r>
              <a:rPr lang="en-US" sz="2000" b="0" i="0" dirty="0">
                <a:effectLst/>
                <a:latin typeface="Times New Roman" panose="02020603050405020304" pitchFamily="18" charset="0"/>
                <a:cs typeface="Times New Roman" panose="02020603050405020304" pitchFamily="18" charset="0"/>
              </a:rPr>
              <a:t> Last 30 layers of the backbone are unfrozen and retrained with a lower </a:t>
            </a:r>
            <a:r>
              <a:rPr lang="en-US" sz="2000" b="0" i="0" dirty="0" err="1">
                <a:effectLst/>
                <a:latin typeface="Times New Roman" panose="02020603050405020304" pitchFamily="18" charset="0"/>
                <a:cs typeface="Times New Roman" panose="02020603050405020304" pitchFamily="18" charset="0"/>
              </a:rPr>
              <a:t>lr</a:t>
            </a:r>
            <a:r>
              <a:rPr lang="en-US" sz="2000" b="0" i="0" dirty="0">
                <a:effectLst/>
                <a:latin typeface="Times New Roman" panose="02020603050405020304" pitchFamily="18" charset="0"/>
                <a:cs typeface="Times New Roman" panose="02020603050405020304" pitchFamily="18" charset="0"/>
              </a:rPr>
              <a:t>=0.0001 to adapt pretrained ImageNet features to vehicle damage patterns without catastrophic forgetting.</a:t>
            </a:r>
            <a:endParaRPr lang="en-IN" sz="2000" b="0" i="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141BDF-27EA-2805-2F29-A6D3B566CD32}"/>
              </a:ext>
            </a:extLst>
          </p:cNvPr>
          <p:cNvSpPr>
            <a:spLocks noGrp="1"/>
          </p:cNvSpPr>
          <p:nvPr>
            <p:ph idx="1"/>
          </p:nvPr>
        </p:nvSpPr>
        <p:spPr>
          <a:xfrm>
            <a:off x="152400" y="228600"/>
            <a:ext cx="8839200" cy="6400800"/>
          </a:xfrm>
        </p:spPr>
        <p:txBody>
          <a:bodyPr>
            <a:normAutofit fontScale="47500" lnSpcReduction="20000"/>
          </a:bodyPr>
          <a:lstStyle/>
          <a:p>
            <a:pPr marL="0" indent="0">
              <a:buNone/>
            </a:pPr>
            <a:r>
              <a:rPr lang="en-US" b="1" dirty="0"/>
              <a:t>Model 2: Claim Estimation (</a:t>
            </a:r>
            <a:r>
              <a:rPr lang="en-US" b="1" dirty="0" err="1"/>
              <a:t>CatBoost</a:t>
            </a:r>
            <a:r>
              <a:rPr lang="en-US" b="1" dirty="0"/>
              <a:t> Regressor):</a:t>
            </a:r>
            <a:endParaRPr lang="en-US" dirty="0"/>
          </a:p>
          <a:p>
            <a:pPr marL="0" indent="0">
              <a:buNone/>
            </a:pPr>
            <a:r>
              <a:rPr lang="en-US" b="1" dirty="0"/>
              <a:t>Training Process:</a:t>
            </a:r>
            <a:endParaRPr lang="en-US" dirty="0"/>
          </a:p>
          <a:p>
            <a:r>
              <a:rPr lang="en-US" b="1" dirty="0"/>
              <a:t>Model Comparison:</a:t>
            </a:r>
            <a:r>
              <a:rPr lang="en-US" dirty="0"/>
              <a:t> Both Random Forest (</a:t>
            </a:r>
            <a:r>
              <a:rPr lang="en-US" dirty="0" err="1">
                <a:hlinkClick r:id="rId2"/>
              </a:rPr>
              <a:t>n_estimators</a:t>
            </a:r>
            <a:r>
              <a:rPr lang="en-US" dirty="0">
                <a:hlinkClick r:id="rId2"/>
              </a:rPr>
              <a:t>=200, </a:t>
            </a:r>
            <a:r>
              <a:rPr lang="en-US" dirty="0" err="1">
                <a:hlinkClick r:id="rId2"/>
              </a:rPr>
              <a:t>max_depth</a:t>
            </a:r>
            <a:r>
              <a:rPr lang="en-US" dirty="0">
                <a:hlinkClick r:id="rId2"/>
              </a:rPr>
              <a:t>=15</a:t>
            </a:r>
            <a:r>
              <a:rPr lang="en-US" dirty="0"/>
              <a:t>) and Gradient Boosting (</a:t>
            </a:r>
            <a:r>
              <a:rPr lang="en-US" dirty="0" err="1">
                <a:hlinkClick r:id="rId2"/>
              </a:rPr>
              <a:t>n_estimators</a:t>
            </a:r>
            <a:r>
              <a:rPr lang="en-US" dirty="0">
                <a:hlinkClick r:id="rId2"/>
              </a:rPr>
              <a:t>=200, </a:t>
            </a:r>
            <a:r>
              <a:rPr lang="en-US" dirty="0" err="1">
                <a:hlinkClick r:id="rId2"/>
              </a:rPr>
              <a:t>max_depth</a:t>
            </a:r>
            <a:r>
              <a:rPr lang="en-US" dirty="0">
                <a:hlinkClick r:id="rId2"/>
              </a:rPr>
              <a:t>=5, </a:t>
            </a:r>
            <a:r>
              <a:rPr lang="en-US" dirty="0" err="1">
                <a:hlinkClick r:id="rId2"/>
              </a:rPr>
              <a:t>lr</a:t>
            </a:r>
            <a:r>
              <a:rPr lang="en-US" dirty="0">
                <a:hlinkClick r:id="rId2"/>
              </a:rPr>
              <a:t>=0.1</a:t>
            </a:r>
            <a:r>
              <a:rPr lang="en-US" dirty="0"/>
              <a:t>) trained and evaluated; best model selected by R² score.</a:t>
            </a:r>
          </a:p>
          <a:p>
            <a:r>
              <a:rPr lang="en-US" b="1" dirty="0"/>
              <a:t>Train/Test Split:</a:t>
            </a:r>
            <a:r>
              <a:rPr lang="en-US" dirty="0"/>
              <a:t> 80% training / 20% testing, </a:t>
            </a:r>
            <a:r>
              <a:rPr lang="en-US" dirty="0" err="1">
                <a:hlinkClick r:id="rId2"/>
              </a:rPr>
              <a:t>random_state</a:t>
            </a:r>
            <a:r>
              <a:rPr lang="en-US" dirty="0">
                <a:hlinkClick r:id="rId2"/>
              </a:rPr>
              <a:t>=42</a:t>
            </a:r>
            <a:r>
              <a:rPr lang="en-US" dirty="0"/>
              <a:t>.</a:t>
            </a:r>
          </a:p>
          <a:p>
            <a:r>
              <a:rPr lang="en-US" b="1" dirty="0"/>
              <a:t>Preprocessing:</a:t>
            </a:r>
            <a:r>
              <a:rPr lang="en-US" dirty="0"/>
              <a:t> Label Encoding applied to all categorical columns (</a:t>
            </a:r>
            <a:r>
              <a:rPr lang="en-US" dirty="0" err="1"/>
              <a:t>auto_make</a:t>
            </a:r>
            <a:r>
              <a:rPr lang="en-US" dirty="0"/>
              <a:t>, </a:t>
            </a:r>
            <a:r>
              <a:rPr lang="en-US" dirty="0" err="1"/>
              <a:t>auto_model</a:t>
            </a:r>
            <a:r>
              <a:rPr lang="en-US" dirty="0"/>
              <a:t>, </a:t>
            </a:r>
            <a:r>
              <a:rPr lang="en-US" dirty="0" err="1"/>
              <a:t>incident_severity</a:t>
            </a:r>
            <a:r>
              <a:rPr lang="en-US" dirty="0"/>
              <a:t>, </a:t>
            </a:r>
            <a:r>
              <a:rPr lang="en-US" dirty="0" err="1">
                <a:hlinkClick r:id="rId2"/>
              </a:rPr>
              <a:t>incident_type</a:t>
            </a:r>
            <a:r>
              <a:rPr lang="en-US" dirty="0"/>
              <a:t>, </a:t>
            </a:r>
            <a:r>
              <a:rPr lang="en-US" dirty="0" err="1"/>
              <a:t>collision_type</a:t>
            </a:r>
            <a:r>
              <a:rPr lang="en-US" dirty="0"/>
              <a:t>).</a:t>
            </a:r>
          </a:p>
          <a:p>
            <a:r>
              <a:rPr lang="en-US" b="1" dirty="0"/>
              <a:t>Features Used:</a:t>
            </a:r>
            <a:r>
              <a:rPr lang="en-US" dirty="0"/>
              <a:t> 6 columns from the 40-column dataset (</a:t>
            </a:r>
            <a:r>
              <a:rPr lang="en-US" dirty="0" err="1"/>
              <a:t>auto_make</a:t>
            </a:r>
            <a:r>
              <a:rPr lang="en-US" dirty="0"/>
              <a:t>, </a:t>
            </a:r>
            <a:r>
              <a:rPr lang="en-US" dirty="0" err="1"/>
              <a:t>auto_model</a:t>
            </a:r>
            <a:r>
              <a:rPr lang="en-US" dirty="0"/>
              <a:t>, </a:t>
            </a:r>
            <a:r>
              <a:rPr lang="en-US" dirty="0" err="1"/>
              <a:t>auto_year</a:t>
            </a:r>
            <a:r>
              <a:rPr lang="en-US" dirty="0"/>
              <a:t>, </a:t>
            </a:r>
            <a:r>
              <a:rPr lang="en-US" dirty="0" err="1"/>
              <a:t>incident_severity</a:t>
            </a:r>
            <a:r>
              <a:rPr lang="en-US" dirty="0"/>
              <a:t>, </a:t>
            </a:r>
            <a:r>
              <a:rPr lang="en-US" dirty="0" err="1">
                <a:hlinkClick r:id="rId2"/>
              </a:rPr>
              <a:t>incident_type</a:t>
            </a:r>
            <a:r>
              <a:rPr lang="en-US" dirty="0"/>
              <a:t>, </a:t>
            </a:r>
            <a:r>
              <a:rPr lang="en-US" dirty="0" err="1"/>
              <a:t>collision_type</a:t>
            </a:r>
            <a:r>
              <a:rPr lang="en-US" dirty="0"/>
              <a:t>).</a:t>
            </a:r>
          </a:p>
          <a:p>
            <a:r>
              <a:rPr lang="en-US" b="1" dirty="0"/>
              <a:t>Target Variable:</a:t>
            </a:r>
            <a:r>
              <a:rPr lang="en-US" dirty="0"/>
              <a:t> </a:t>
            </a:r>
            <a:r>
              <a:rPr lang="en-US" dirty="0" err="1"/>
              <a:t>vehicle_claim</a:t>
            </a:r>
            <a:r>
              <a:rPr lang="en-US" dirty="0"/>
              <a:t> (claim amount in USD).</a:t>
            </a:r>
          </a:p>
          <a:p>
            <a:r>
              <a:rPr lang="en-US" b="1" dirty="0"/>
              <a:t>Estimation Formula</a:t>
            </a:r>
            <a:r>
              <a:rPr lang="en-US" dirty="0"/>
              <a:t>:  Claim = Base x </a:t>
            </a:r>
            <a:r>
              <a:rPr lang="en-US" dirty="0" err="1"/>
              <a:t>BrandMult</a:t>
            </a:r>
            <a:r>
              <a:rPr lang="en-US" dirty="0"/>
              <a:t>. Fuel Mult x (1 – Depreciation/100)</a:t>
            </a:r>
          </a:p>
          <a:p>
            <a:pPr marL="0" indent="0">
              <a:buNone/>
            </a:pPr>
            <a:endParaRPr lang="en-US" dirty="0"/>
          </a:p>
          <a:p>
            <a:pPr marL="0" indent="0">
              <a:buNone/>
            </a:pPr>
            <a:endParaRPr lang="en-US" dirty="0"/>
          </a:p>
          <a:p>
            <a:pPr marL="0" indent="0">
              <a:buNone/>
            </a:pPr>
            <a:r>
              <a:rPr lang="en-US" b="1" dirty="0"/>
              <a:t>Evaluation Metrics:</a:t>
            </a:r>
            <a:endParaRPr lang="en-US" dirty="0"/>
          </a:p>
          <a:p>
            <a:r>
              <a:rPr lang="en-US" b="1" dirty="0"/>
              <a:t>R² Score (Coefficient of Determination):</a:t>
            </a:r>
            <a:r>
              <a:rPr lang="en-US" dirty="0"/>
              <a:t> Measures how well the model explains variance in claim amounts.</a:t>
            </a:r>
          </a:p>
          <a:p>
            <a:r>
              <a:rPr lang="en-US" b="1" dirty="0"/>
              <a:t>MAE (Mean Absolute Error):</a:t>
            </a:r>
            <a:r>
              <a:rPr lang="en-US" dirty="0"/>
              <a:t> Average absolute difference between predicted and actual claim amounts.</a:t>
            </a:r>
          </a:p>
          <a:p>
            <a:r>
              <a:rPr lang="en-US" b="1" dirty="0"/>
              <a:t>RMSE (Root Mean Squared Error):</a:t>
            </a:r>
            <a:r>
              <a:rPr lang="en-US" dirty="0"/>
              <a:t> Penalizes larger prediction errors more heavily than MAE.</a:t>
            </a:r>
          </a:p>
          <a:p>
            <a:r>
              <a:rPr lang="en-US" b="1" dirty="0"/>
              <a:t>Results:</a:t>
            </a:r>
            <a:endParaRPr lang="en-US" dirty="0"/>
          </a:p>
          <a:p>
            <a:r>
              <a:rPr lang="en-US" b="1" dirty="0"/>
              <a:t>Best Model:</a:t>
            </a:r>
            <a:r>
              <a:rPr lang="en-US" dirty="0"/>
              <a:t> Random Forest Regressor (outperformed Gradient Boosting)</a:t>
            </a:r>
          </a:p>
          <a:p>
            <a:r>
              <a:rPr lang="en-US" b="1" dirty="0"/>
              <a:t>R² Score:</a:t>
            </a:r>
            <a:r>
              <a:rPr lang="en-US" dirty="0"/>
              <a:t> 0.7958 — model explains ~79.6% of variance in claim amounts.</a:t>
            </a:r>
          </a:p>
          <a:p>
            <a:r>
              <a:rPr lang="en-US" b="1" dirty="0"/>
              <a:t>MAE:</a:t>
            </a:r>
            <a:r>
              <a:rPr lang="en-US" dirty="0"/>
              <a:t> $6,410.03 — average prediction error in claim estimation.</a:t>
            </a:r>
          </a:p>
          <a:p>
            <a:r>
              <a:rPr lang="en-US" dirty="0"/>
              <a:t>Feature importance chart saved as feature_importance.png, with </a:t>
            </a:r>
            <a:r>
              <a:rPr lang="en-US" dirty="0" err="1"/>
              <a:t>incident_severity</a:t>
            </a:r>
            <a:r>
              <a:rPr lang="en-US" dirty="0"/>
              <a:t> and </a:t>
            </a:r>
            <a:r>
              <a:rPr lang="en-US" dirty="0" err="1"/>
              <a:t>auto_make</a:t>
            </a:r>
            <a:r>
              <a:rPr lang="en-US" dirty="0"/>
              <a:t> ranking as the most influential features.</a:t>
            </a:r>
          </a:p>
          <a:p>
            <a:pPr marL="0" indent="0">
              <a:buNone/>
            </a:pPr>
            <a:endParaRPr lang="en-IN" dirty="0"/>
          </a:p>
        </p:txBody>
      </p:sp>
    </p:spTree>
    <p:extLst>
      <p:ext uri="{BB962C8B-B14F-4D97-AF65-F5344CB8AC3E}">
        <p14:creationId xmlns:p14="http://schemas.microsoft.com/office/powerpoint/2010/main" val="2844475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1E4B581-CAD9-C3BB-FB10-44B331BAB9AB}"/>
              </a:ext>
            </a:extLst>
          </p:cNvPr>
          <p:cNvSpPr>
            <a:spLocks noGrp="1"/>
          </p:cNvSpPr>
          <p:nvPr>
            <p:ph idx="1"/>
          </p:nvPr>
        </p:nvSpPr>
        <p:spPr>
          <a:xfrm>
            <a:off x="304800" y="304800"/>
            <a:ext cx="8229600" cy="4724400"/>
          </a:xfrm>
        </p:spPr>
        <p:txBody>
          <a:bodyPr>
            <a:noAutofit/>
          </a:bodyPr>
          <a:lstStyle/>
          <a:p>
            <a:pPr marL="0" indent="0" algn="l">
              <a:buNone/>
            </a:pPr>
            <a:r>
              <a:rPr lang="en-IN" sz="2000" b="1" i="0" dirty="0">
                <a:effectLst/>
                <a:latin typeface="Times New Roman" panose="02020603050405020304" pitchFamily="18" charset="0"/>
                <a:cs typeface="Times New Roman" panose="02020603050405020304" pitchFamily="18" charset="0"/>
              </a:rPr>
              <a:t>Training and Evaluation</a:t>
            </a:r>
          </a:p>
          <a:p>
            <a:pPr marL="400050" lvl="1" indent="0">
              <a:spcAft>
                <a:spcPts val="300"/>
              </a:spcAft>
              <a:buNone/>
            </a:pPr>
            <a:r>
              <a:rPr lang="en-IN" sz="2000" b="1" i="0" dirty="0">
                <a:effectLst/>
                <a:latin typeface="Times New Roman" panose="02020603050405020304" pitchFamily="18" charset="0"/>
                <a:cs typeface="Times New Roman" panose="02020603050405020304" pitchFamily="18" charset="0"/>
              </a:rPr>
              <a:t>Training Process:</a:t>
            </a:r>
            <a:endParaRPr lang="en-IN" sz="2000" b="0" i="0" dirty="0">
              <a:effectLst/>
              <a:latin typeface="Times New Roman" panose="02020603050405020304" pitchFamily="18" charset="0"/>
              <a:cs typeface="Times New Roman" panose="02020603050405020304" pitchFamily="18" charset="0"/>
            </a:endParaRPr>
          </a:p>
          <a:p>
            <a:pPr lvl="2" indent="-285750">
              <a:spcBef>
                <a:spcPts val="300"/>
              </a:spcBef>
            </a:pPr>
            <a:r>
              <a:rPr lang="en-IN" sz="1800" b="1" i="0" dirty="0">
                <a:effectLst/>
                <a:latin typeface="Times New Roman" panose="02020603050405020304" pitchFamily="18" charset="0"/>
                <a:cs typeface="Times New Roman" panose="02020603050405020304" pitchFamily="18" charset="0"/>
              </a:rPr>
              <a:t>Early Stopping:</a:t>
            </a:r>
            <a:r>
              <a:rPr lang="en-IN" sz="1800" b="0" i="0" dirty="0">
                <a:effectLst/>
                <a:latin typeface="Times New Roman" panose="02020603050405020304" pitchFamily="18" charset="0"/>
                <a:cs typeface="Times New Roman" panose="02020603050405020304" pitchFamily="18" charset="0"/>
              </a:rPr>
              <a:t> </a:t>
            </a:r>
            <a:r>
              <a:rPr lang="en-US" sz="1800" b="0" i="0" dirty="0">
                <a:effectLst/>
                <a:latin typeface="Times New Roman" panose="02020603050405020304" pitchFamily="18" charset="0"/>
                <a:cs typeface="Times New Roman" panose="02020603050405020304" pitchFamily="18" charset="0"/>
              </a:rPr>
              <a:t> Stop training if validation loss does not improve for 5 epochs (patience=5), restoring best weights automatically.</a:t>
            </a:r>
            <a:endParaRPr lang="en-IN" sz="1800" b="0" i="0" dirty="0">
              <a:effectLst/>
              <a:latin typeface="Times New Roman" panose="02020603050405020304" pitchFamily="18" charset="0"/>
              <a:cs typeface="Times New Roman" panose="02020603050405020304" pitchFamily="18" charset="0"/>
            </a:endParaRPr>
          </a:p>
          <a:p>
            <a:pPr lvl="2" indent="-285750">
              <a:spcBef>
                <a:spcPts val="300"/>
              </a:spcBef>
            </a:pPr>
            <a:r>
              <a:rPr lang="en-IN" sz="1800" b="1" i="0" dirty="0">
                <a:effectLst/>
                <a:latin typeface="Times New Roman" panose="02020603050405020304" pitchFamily="18" charset="0"/>
                <a:cs typeface="Times New Roman" panose="02020603050405020304" pitchFamily="18" charset="0"/>
              </a:rPr>
              <a:t>Model Comparison:</a:t>
            </a:r>
            <a:r>
              <a:rPr lang="en-IN" sz="1800" b="0" i="0" dirty="0">
                <a:effectLst/>
                <a:latin typeface="Times New Roman" panose="02020603050405020304" pitchFamily="18" charset="0"/>
                <a:cs typeface="Times New Roman" panose="02020603050405020304" pitchFamily="18" charset="0"/>
              </a:rPr>
              <a:t> Random Forest Regressor and Gradient Boosting Techniques.</a:t>
            </a:r>
          </a:p>
          <a:p>
            <a:pPr lvl="2" indent="-285750">
              <a:spcBef>
                <a:spcPts val="300"/>
              </a:spcBef>
            </a:pPr>
            <a:r>
              <a:rPr lang="en-IN" sz="1800" b="1" i="0" dirty="0">
                <a:effectLst/>
                <a:latin typeface="Times New Roman" panose="02020603050405020304" pitchFamily="18" charset="0"/>
                <a:cs typeface="Times New Roman" panose="02020603050405020304" pitchFamily="18" charset="0"/>
              </a:rPr>
              <a:t>Batch Size:</a:t>
            </a:r>
            <a:r>
              <a:rPr lang="en-IN" sz="1800" b="0" i="0" dirty="0">
                <a:effectLst/>
                <a:latin typeface="Times New Roman" panose="02020603050405020304" pitchFamily="18" charset="0"/>
                <a:cs typeface="Times New Roman" panose="02020603050405020304" pitchFamily="18" charset="0"/>
              </a:rPr>
              <a:t> 32 for efficient training.</a:t>
            </a:r>
          </a:p>
          <a:p>
            <a:pPr lvl="2" indent="-285750">
              <a:spcBef>
                <a:spcPts val="300"/>
              </a:spcBef>
            </a:pPr>
            <a:r>
              <a:rPr lang="en-IN" sz="1800" b="1" i="0" dirty="0">
                <a:effectLst/>
                <a:latin typeface="Times New Roman" panose="02020603050405020304" pitchFamily="18" charset="0"/>
                <a:cs typeface="Times New Roman" panose="02020603050405020304" pitchFamily="18" charset="0"/>
              </a:rPr>
              <a:t>Epochs:</a:t>
            </a:r>
            <a:r>
              <a:rPr lang="en-IN" sz="1800" b="0" i="0" dirty="0">
                <a:effectLst/>
                <a:latin typeface="Times New Roman" panose="02020603050405020304" pitchFamily="18" charset="0"/>
                <a:cs typeface="Times New Roman" panose="02020603050405020304" pitchFamily="18" charset="0"/>
              </a:rPr>
              <a:t> </a:t>
            </a:r>
            <a:r>
              <a:rPr lang="en-US" sz="1800" b="0" i="0" dirty="0">
                <a:effectLst/>
                <a:latin typeface="Times New Roman" panose="02020603050405020304" pitchFamily="18" charset="0"/>
                <a:cs typeface="Times New Roman" panose="02020603050405020304" pitchFamily="18" charset="0"/>
              </a:rPr>
              <a:t>20 (Phase 1: Feature Extraction) + 10 (Phase 2: Fine-Tuning) = 30 maximum epochs with 80-20 train test split.</a:t>
            </a:r>
          </a:p>
          <a:p>
            <a:pPr lvl="2" indent="-285750">
              <a:spcBef>
                <a:spcPts val="300"/>
              </a:spcBef>
            </a:pPr>
            <a:r>
              <a:rPr lang="en-IN" sz="1800" b="1" i="0" dirty="0">
                <a:effectLst/>
                <a:latin typeface="Times New Roman" panose="02020603050405020304" pitchFamily="18" charset="0"/>
                <a:cs typeface="Times New Roman" panose="02020603050405020304" pitchFamily="18" charset="0"/>
              </a:rPr>
              <a:t>Optimizer: </a:t>
            </a:r>
            <a:r>
              <a:rPr lang="en-US" sz="1800" i="0" dirty="0">
                <a:effectLst/>
                <a:latin typeface="Times New Roman" panose="02020603050405020304" pitchFamily="18" charset="0"/>
                <a:cs typeface="Times New Roman" panose="02020603050405020304" pitchFamily="18" charset="0"/>
              </a:rPr>
              <a:t>Adam with learning rate 0.001 (Phase 1) and 0.0001 (Phase 2 fine-tuning to prevent overwriting pretrained weights).</a:t>
            </a:r>
            <a:endParaRPr lang="en-IN" sz="1800" i="0" dirty="0">
              <a:effectLst/>
              <a:latin typeface="Times New Roman" panose="02020603050405020304" pitchFamily="18" charset="0"/>
              <a:cs typeface="Times New Roman" panose="02020603050405020304" pitchFamily="18" charset="0"/>
            </a:endParaRPr>
          </a:p>
          <a:p>
            <a:pPr lvl="2" indent="-285750">
              <a:spcBef>
                <a:spcPts val="300"/>
              </a:spcBef>
            </a:pPr>
            <a:r>
              <a:rPr lang="en-IN" sz="1800" b="1" dirty="0">
                <a:latin typeface="Times New Roman" panose="02020603050405020304" pitchFamily="18" charset="0"/>
                <a:cs typeface="Times New Roman" panose="02020603050405020304" pitchFamily="18" charset="0"/>
              </a:rPr>
              <a:t>Data Augmentation: </a:t>
            </a:r>
            <a:r>
              <a:rPr lang="en-US" sz="1800" dirty="0">
                <a:latin typeface="Times New Roman" panose="02020603050405020304" pitchFamily="18" charset="0"/>
                <a:cs typeface="Times New Roman" panose="02020603050405020304" pitchFamily="18" charset="0"/>
              </a:rPr>
              <a:t>Rotation (±30°), width/height shift (20%), shear (20%), zoom (20%), horizontal flip, and pixel normalization (÷255).</a:t>
            </a:r>
            <a:endParaRPr lang="en-IN" sz="1800" i="0" dirty="0">
              <a:effectLst/>
              <a:latin typeface="Times New Roman" panose="02020603050405020304" pitchFamily="18" charset="0"/>
              <a:cs typeface="Times New Roman" panose="02020603050405020304" pitchFamily="18" charset="0"/>
            </a:endParaRPr>
          </a:p>
          <a:p>
            <a:pPr marL="400050" lvl="1" indent="0">
              <a:spcBef>
                <a:spcPts val="300"/>
              </a:spcBef>
              <a:spcAft>
                <a:spcPts val="300"/>
              </a:spcAft>
              <a:buNone/>
            </a:pPr>
            <a:r>
              <a:rPr lang="en-IN" sz="2000" b="1" i="0" dirty="0">
                <a:effectLst/>
                <a:latin typeface="Times New Roman" panose="02020603050405020304" pitchFamily="18" charset="0"/>
                <a:cs typeface="Times New Roman" panose="02020603050405020304" pitchFamily="18" charset="0"/>
              </a:rPr>
              <a:t>Evaluation Metrics:</a:t>
            </a:r>
            <a:endParaRPr lang="en-IN" sz="2000" b="0" i="0" dirty="0">
              <a:effectLst/>
              <a:latin typeface="Times New Roman" panose="02020603050405020304" pitchFamily="18" charset="0"/>
              <a:cs typeface="Times New Roman" panose="02020603050405020304" pitchFamily="18" charset="0"/>
            </a:endParaRPr>
          </a:p>
          <a:p>
            <a:pPr lvl="2" indent="-285750">
              <a:spcBef>
                <a:spcPts val="300"/>
              </a:spcBef>
            </a:pPr>
            <a:r>
              <a:rPr lang="en-IN" sz="1700" b="1" i="0" dirty="0">
                <a:effectLst/>
                <a:latin typeface="Times New Roman" panose="02020603050405020304" pitchFamily="18" charset="0"/>
                <a:cs typeface="Times New Roman" panose="02020603050405020304" pitchFamily="18" charset="0"/>
              </a:rPr>
              <a:t>R² Score:</a:t>
            </a:r>
            <a:r>
              <a:rPr lang="en-IN" sz="1700" b="0" i="0" dirty="0">
                <a:effectLst/>
                <a:latin typeface="Times New Roman" panose="02020603050405020304" pitchFamily="18" charset="0"/>
                <a:cs typeface="Times New Roman" panose="02020603050405020304" pitchFamily="18" charset="0"/>
              </a:rPr>
              <a:t> Balances precision and recall for better evaluation</a:t>
            </a:r>
          </a:p>
          <a:p>
            <a:pPr lvl="2" indent="-285750">
              <a:spcBef>
                <a:spcPts val="300"/>
              </a:spcBef>
            </a:pPr>
            <a:r>
              <a:rPr lang="en-US" sz="1700" b="1" i="0" dirty="0">
                <a:effectLst/>
                <a:latin typeface="Times New Roman" panose="02020603050405020304" pitchFamily="18" charset="0"/>
                <a:cs typeface="Times New Roman" panose="02020603050405020304" pitchFamily="18" charset="0"/>
              </a:rPr>
              <a:t>MAE (Mean Absolute Error): </a:t>
            </a:r>
            <a:r>
              <a:rPr lang="en-US" sz="1700" i="0" dirty="0">
                <a:effectLst/>
                <a:latin typeface="Times New Roman" panose="02020603050405020304" pitchFamily="18" charset="0"/>
                <a:cs typeface="Times New Roman" panose="02020603050405020304" pitchFamily="18" charset="0"/>
              </a:rPr>
              <a:t>Average absolute difference between predicted and actual claim amounts.</a:t>
            </a:r>
          </a:p>
          <a:p>
            <a:pPr marL="442913" lvl="2" indent="0">
              <a:spcBef>
                <a:spcPts val="300"/>
              </a:spcBef>
              <a:buNone/>
            </a:pPr>
            <a:r>
              <a:rPr lang="en-IN" sz="2000" b="1" i="0" dirty="0">
                <a:effectLst/>
                <a:latin typeface="Times New Roman" panose="02020603050405020304" pitchFamily="18" charset="0"/>
                <a:cs typeface="Times New Roman" panose="02020603050405020304" pitchFamily="18" charset="0"/>
              </a:rPr>
              <a:t>Results:</a:t>
            </a:r>
            <a:endParaRPr lang="en-IN" sz="2000" b="0" i="0" dirty="0">
              <a:effectLst/>
              <a:latin typeface="Times New Roman" panose="02020603050405020304" pitchFamily="18" charset="0"/>
              <a:cs typeface="Times New Roman" panose="02020603050405020304" pitchFamily="18" charset="0"/>
            </a:endParaRPr>
          </a:p>
          <a:p>
            <a:pPr lvl="2" indent="-285750">
              <a:spcBef>
                <a:spcPts val="300"/>
              </a:spcBef>
            </a:pPr>
            <a:r>
              <a:rPr lang="en-IN" sz="1800" dirty="0"/>
              <a:t>R² Score</a:t>
            </a:r>
            <a:r>
              <a:rPr lang="en-IN" sz="1800" b="0" i="0" dirty="0">
                <a:effectLst/>
                <a:latin typeface="Times New Roman" panose="02020603050405020304" pitchFamily="18" charset="0"/>
                <a:cs typeface="Times New Roman" panose="02020603050405020304" pitchFamily="18" charset="0"/>
              </a:rPr>
              <a:t> : 0.7958 - m</a:t>
            </a:r>
            <a:r>
              <a:rPr lang="en-US" sz="1800" b="0" i="0" dirty="0" err="1">
                <a:effectLst/>
                <a:latin typeface="Times New Roman" panose="02020603050405020304" pitchFamily="18" charset="0"/>
                <a:cs typeface="Times New Roman" panose="02020603050405020304" pitchFamily="18" charset="0"/>
              </a:rPr>
              <a:t>odel</a:t>
            </a:r>
            <a:r>
              <a:rPr lang="en-US" sz="1800" b="0" i="0" dirty="0">
                <a:effectLst/>
                <a:latin typeface="Times New Roman" panose="02020603050405020304" pitchFamily="18" charset="0"/>
                <a:cs typeface="Times New Roman" panose="02020603050405020304" pitchFamily="18" charset="0"/>
              </a:rPr>
              <a:t> explains ~</a:t>
            </a:r>
            <a:r>
              <a:rPr lang="en-US" sz="1800" dirty="0">
                <a:latin typeface="Times New Roman" panose="02020603050405020304" pitchFamily="18" charset="0"/>
                <a:cs typeface="Times New Roman" panose="02020603050405020304" pitchFamily="18" charset="0"/>
              </a:rPr>
              <a:t>79</a:t>
            </a:r>
            <a:r>
              <a:rPr lang="en-US" sz="1800" b="0" i="0" dirty="0">
                <a:effectLst/>
                <a:latin typeface="Times New Roman" panose="02020603050405020304" pitchFamily="18" charset="0"/>
                <a:cs typeface="Times New Roman" panose="02020603050405020304" pitchFamily="18" charset="0"/>
              </a:rPr>
              <a:t>.6% of variance in claim amounts.</a:t>
            </a:r>
            <a:endParaRPr lang="en-IN" sz="1800" b="0" i="0" dirty="0">
              <a:effectLst/>
              <a:latin typeface="Times New Roman" panose="02020603050405020304" pitchFamily="18" charset="0"/>
              <a:cs typeface="Times New Roman" panose="02020603050405020304" pitchFamily="18" charset="0"/>
            </a:endParaRPr>
          </a:p>
          <a:p>
            <a:pPr lvl="2" indent="-285750">
              <a:spcBef>
                <a:spcPts val="300"/>
              </a:spcBef>
            </a:pPr>
            <a:r>
              <a:rPr lang="en-IN" sz="1800" dirty="0">
                <a:latin typeface="Times New Roman" panose="02020603050405020304" pitchFamily="18" charset="0"/>
                <a:cs typeface="Times New Roman" panose="02020603050405020304" pitchFamily="18" charset="0"/>
              </a:rPr>
              <a:t>MAE </a:t>
            </a:r>
            <a:r>
              <a:rPr lang="en-IN" sz="1800" b="0" i="0" dirty="0">
                <a:effectLst/>
                <a:latin typeface="Times New Roman" panose="02020603050405020304" pitchFamily="18" charset="0"/>
                <a:cs typeface="Times New Roman" panose="02020603050405020304" pitchFamily="18" charset="0"/>
              </a:rPr>
              <a:t>: 6410.03 - average prediction error in claim estimation.</a:t>
            </a:r>
          </a:p>
          <a:p>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0537F-D60C-3790-5943-A564475868DF}"/>
            </a:ext>
          </a:extLst>
        </p:cNvPr>
        <p:cNvGrpSpPr/>
        <p:nvPr/>
      </p:nvGrpSpPr>
      <p:grpSpPr>
        <a:xfrm>
          <a:off x="0" y="0"/>
          <a:ext cx="0" cy="0"/>
          <a:chOff x="0" y="0"/>
          <a:chExt cx="0" cy="0"/>
        </a:xfrm>
      </p:grpSpPr>
      <p:pic>
        <p:nvPicPr>
          <p:cNvPr id="3" name="Content Placeholder 2">
            <a:extLst>
              <a:ext uri="{FF2B5EF4-FFF2-40B4-BE49-F238E27FC236}">
                <a16:creationId xmlns:a16="http://schemas.microsoft.com/office/drawing/2014/main" id="{3C8A7CD4-65FC-86D4-1062-9A64910F4F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8468" y="0"/>
            <a:ext cx="8247064" cy="3369925"/>
          </a:xfrm>
        </p:spPr>
      </p:pic>
      <p:pic>
        <p:nvPicPr>
          <p:cNvPr id="4" name="Picture 3">
            <a:extLst>
              <a:ext uri="{FF2B5EF4-FFF2-40B4-BE49-F238E27FC236}">
                <a16:creationId xmlns:a16="http://schemas.microsoft.com/office/drawing/2014/main" id="{47B4C93C-5CBB-3C97-6CA3-9A4A84CC37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1600" y="3369925"/>
            <a:ext cx="5791200" cy="3474720"/>
          </a:xfrm>
          <a:prstGeom prst="rect">
            <a:avLst/>
          </a:prstGeom>
        </p:spPr>
      </p:pic>
    </p:spTree>
    <p:extLst>
      <p:ext uri="{BB962C8B-B14F-4D97-AF65-F5344CB8AC3E}">
        <p14:creationId xmlns:p14="http://schemas.microsoft.com/office/powerpoint/2010/main" val="13029911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14400"/>
            <a:ext cx="8229600" cy="5745163"/>
          </a:xfrm>
        </p:spPr>
        <p:txBody>
          <a:bodyPr>
            <a:normAutofit/>
          </a:bodyPr>
          <a:lstStyle/>
          <a:p>
            <a:pPr marL="0" indent="0" algn="l">
              <a:buNone/>
            </a:pPr>
            <a:r>
              <a:rPr lang="en-US" sz="2200" b="1" i="0" dirty="0">
                <a:effectLst/>
                <a:latin typeface="Times New Roman" panose="02020603050405020304" pitchFamily="18" charset="0"/>
                <a:cs typeface="Times New Roman" panose="02020603050405020304" pitchFamily="18" charset="0"/>
              </a:rPr>
              <a:t>Proposed System – Future Plans</a:t>
            </a:r>
            <a:endParaRPr lang="en-US" sz="2000" b="0" i="0" dirty="0">
              <a:effectLst/>
              <a:latin typeface="Times New Roman" panose="02020603050405020304" pitchFamily="18" charset="0"/>
              <a:cs typeface="Times New Roman" panose="02020603050405020304" pitchFamily="18" charset="0"/>
            </a:endParaRPr>
          </a:p>
          <a:p>
            <a:pPr marL="742950" lvl="1" indent="-285750" algn="l">
              <a:spcBef>
                <a:spcPts val="300"/>
              </a:spcBef>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Use the </a:t>
            </a:r>
            <a:r>
              <a:rPr lang="en-US" sz="2000" dirty="0">
                <a:latin typeface="Times New Roman" panose="02020603050405020304" pitchFamily="18" charset="0"/>
                <a:cs typeface="Times New Roman" panose="02020603050405020304" pitchFamily="18" charset="0"/>
              </a:rPr>
              <a:t>selected </a:t>
            </a:r>
            <a:r>
              <a:rPr lang="en-US" sz="2000" b="0" i="0" dirty="0">
                <a:effectLst/>
                <a:latin typeface="Times New Roman" panose="02020603050405020304" pitchFamily="18" charset="0"/>
                <a:cs typeface="Times New Roman" panose="02020603050405020304" pitchFamily="18" charset="0"/>
              </a:rPr>
              <a:t>model to be trained with the specific datasets.</a:t>
            </a:r>
          </a:p>
          <a:p>
            <a:pPr marL="742950" lvl="1" indent="-285750" algn="l">
              <a:spcBef>
                <a:spcPts val="300"/>
              </a:spcBef>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Update predictions iteratively for each day.</a:t>
            </a:r>
          </a:p>
          <a:p>
            <a:pPr marL="0" indent="0" algn="l">
              <a:spcBef>
                <a:spcPts val="300"/>
              </a:spcBef>
              <a:spcAft>
                <a:spcPts val="300"/>
              </a:spcAft>
              <a:buNone/>
            </a:pPr>
            <a:r>
              <a:rPr lang="en-US" sz="2000" b="1" i="0" dirty="0">
                <a:effectLst/>
                <a:latin typeface="Times New Roman" panose="02020603050405020304" pitchFamily="18" charset="0"/>
                <a:cs typeface="Times New Roman" panose="02020603050405020304" pitchFamily="18" charset="0"/>
              </a:rPr>
              <a:t>Output:</a:t>
            </a:r>
          </a:p>
          <a:p>
            <a:pPr lvl="1">
              <a:spcBef>
                <a:spcPts val="300"/>
              </a:spcBef>
              <a:spcAft>
                <a:spcPts val="300"/>
              </a:spcAf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Made a deep learning model used for automated car insurance claim.</a:t>
            </a:r>
          </a:p>
          <a:p>
            <a:pPr marL="742950" lvl="1" indent="-285750" algn="l">
              <a:spcBef>
                <a:spcPts val="300"/>
              </a:spcBef>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Incorporate the model with a user-friendly application</a:t>
            </a:r>
            <a:r>
              <a:rPr lang="en-US" sz="2000" dirty="0">
                <a:latin typeface="Times New Roman" panose="02020603050405020304" pitchFamily="18" charset="0"/>
                <a:cs typeface="Times New Roman" panose="02020603050405020304" pitchFamily="18" charset="0"/>
              </a:rPr>
              <a:t> using </a:t>
            </a:r>
            <a:r>
              <a:rPr lang="en-US" sz="2000" dirty="0" err="1">
                <a:latin typeface="Times New Roman" panose="02020603050405020304" pitchFamily="18" charset="0"/>
                <a:cs typeface="Times New Roman" panose="02020603050405020304" pitchFamily="18" charset="0"/>
              </a:rPr>
              <a:t>streamlit</a:t>
            </a:r>
            <a:r>
              <a:rPr lang="en-US" sz="2000" b="0" i="0" dirty="0">
                <a:effectLst/>
                <a:latin typeface="Times New Roman" panose="02020603050405020304" pitchFamily="18" charset="0"/>
                <a:cs typeface="Times New Roman" panose="02020603050405020304" pitchFamily="18" charset="0"/>
              </a:rPr>
              <a:t>.</a:t>
            </a:r>
          </a:p>
          <a:p>
            <a:pPr marL="457200" lvl="1" indent="0">
              <a:spcBef>
                <a:spcPts val="300"/>
              </a:spcBef>
              <a:spcAft>
                <a:spcPts val="300"/>
              </a:spcAft>
              <a:buNone/>
            </a:pPr>
            <a:endParaRPr lang="en-US" sz="2000" b="0" i="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5440363"/>
          </a:xfrm>
        </p:spPr>
        <p:txBody>
          <a:bodyPr>
            <a:noAutofit/>
          </a:bodyPr>
          <a:lstStyle/>
          <a:p>
            <a:pPr marL="0" indent="0" algn="l">
              <a:spcAft>
                <a:spcPts val="300"/>
              </a:spcAft>
              <a:buNone/>
            </a:pPr>
            <a:r>
              <a:rPr lang="en-US" sz="2000" b="1" i="0" dirty="0">
                <a:effectLst/>
                <a:latin typeface="Times New Roman" panose="02020603050405020304" pitchFamily="18" charset="0"/>
                <a:cs typeface="Times New Roman" panose="02020603050405020304" pitchFamily="18" charset="0"/>
              </a:rPr>
              <a:t>Summary of Work:</a:t>
            </a:r>
            <a:endParaRPr lang="en-US" sz="2000" b="0" i="0" dirty="0">
              <a:effectLst/>
              <a:latin typeface="Times New Roman" panose="02020603050405020304" pitchFamily="18" charset="0"/>
              <a:cs typeface="Times New Roman" panose="02020603050405020304" pitchFamily="18" charset="0"/>
            </a:endParaRPr>
          </a:p>
          <a:p>
            <a:pPr marL="742950" lvl="1" indent="-285750" algn="l">
              <a:spcBef>
                <a:spcPts val="300"/>
              </a:spcBef>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Developed a deep learning-based model using EfficientNetB0 for Damage detection and classification in damaged vehicles.</a:t>
            </a:r>
          </a:p>
          <a:p>
            <a:pPr marL="742950" lvl="1" indent="-285750" algn="l">
              <a:spcBef>
                <a:spcPts val="300"/>
              </a:spcBef>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Developed a machine learning-based model which uses </a:t>
            </a:r>
            <a:r>
              <a:rPr lang="en-US" sz="2000" b="0" i="0" dirty="0" err="1">
                <a:effectLst/>
                <a:latin typeface="Times New Roman" panose="02020603050405020304" pitchFamily="18" charset="0"/>
                <a:cs typeface="Times New Roman" panose="02020603050405020304" pitchFamily="18" charset="0"/>
              </a:rPr>
              <a:t>CatBoost</a:t>
            </a:r>
            <a:r>
              <a:rPr lang="en-US" sz="2000" b="0" i="0" dirty="0">
                <a:effectLst/>
                <a:latin typeface="Times New Roman" panose="02020603050405020304" pitchFamily="18" charset="0"/>
                <a:cs typeface="Times New Roman" panose="02020603050405020304" pitchFamily="18" charset="0"/>
              </a:rPr>
              <a:t> Regressor for claim amount estimation along with a waterflow chart.</a:t>
            </a:r>
          </a:p>
          <a:p>
            <a:pPr marL="0" indent="0" algn="l">
              <a:spcBef>
                <a:spcPts val="300"/>
              </a:spcBef>
              <a:spcAft>
                <a:spcPts val="300"/>
              </a:spcAft>
              <a:buNone/>
            </a:pPr>
            <a:r>
              <a:rPr lang="en-US" sz="2000" b="1" i="0" dirty="0">
                <a:effectLst/>
                <a:latin typeface="Times New Roman" panose="02020603050405020304" pitchFamily="18" charset="0"/>
                <a:cs typeface="Times New Roman" panose="02020603050405020304" pitchFamily="18" charset="0"/>
              </a:rPr>
              <a:t>Key Achievements:</a:t>
            </a:r>
            <a:endParaRPr lang="en-US" sz="2000" b="0" i="0" dirty="0">
              <a:effectLst/>
              <a:latin typeface="Times New Roman" panose="02020603050405020304" pitchFamily="18" charset="0"/>
              <a:cs typeface="Times New Roman" panose="02020603050405020304" pitchFamily="18" charset="0"/>
            </a:endParaRPr>
          </a:p>
          <a:p>
            <a:pPr marL="742950" lvl="1" indent="-285750" algn="l">
              <a:spcBef>
                <a:spcPts val="300"/>
              </a:spcBef>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Found the optimal model fo</a:t>
            </a:r>
            <a:r>
              <a:rPr lang="en-US" sz="2000" dirty="0">
                <a:latin typeface="Times New Roman" panose="02020603050405020304" pitchFamily="18" charset="0"/>
                <a:cs typeface="Times New Roman" panose="02020603050405020304" pitchFamily="18" charset="0"/>
              </a:rPr>
              <a:t>r damage detection and claim amount estimation</a:t>
            </a:r>
            <a:r>
              <a:rPr lang="en-US" sz="2000" b="0" i="0" dirty="0">
                <a:effectLst/>
                <a:latin typeface="Times New Roman" panose="02020603050405020304" pitchFamily="18" charset="0"/>
                <a:cs typeface="Times New Roman" panose="02020603050405020304" pitchFamily="18" charset="0"/>
              </a:rPr>
              <a:t>.</a:t>
            </a:r>
          </a:p>
          <a:p>
            <a:pPr marL="742950" lvl="1" indent="-285750" algn="l">
              <a:spcBef>
                <a:spcPts val="300"/>
              </a:spcBef>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Discovered a key implementation for the ML model.</a:t>
            </a:r>
          </a:p>
          <a:p>
            <a:pPr marL="0" indent="0" algn="l">
              <a:spcBef>
                <a:spcPts val="300"/>
              </a:spcBef>
              <a:spcAft>
                <a:spcPts val="300"/>
              </a:spcAft>
              <a:buNone/>
            </a:pPr>
            <a:r>
              <a:rPr lang="en-US" sz="2000" b="1" i="0" dirty="0">
                <a:effectLst/>
                <a:latin typeface="Times New Roman" panose="02020603050405020304" pitchFamily="18" charset="0"/>
                <a:cs typeface="Times New Roman" panose="02020603050405020304" pitchFamily="18" charset="0"/>
              </a:rPr>
              <a:t>Future Work:</a:t>
            </a:r>
            <a:endParaRPr lang="en-US" sz="2000" b="0" i="0" dirty="0">
              <a:effectLst/>
              <a:latin typeface="Times New Roman" panose="02020603050405020304" pitchFamily="18" charset="0"/>
              <a:cs typeface="Times New Roman" panose="02020603050405020304" pitchFamily="18" charset="0"/>
            </a:endParaRPr>
          </a:p>
          <a:p>
            <a:pPr marL="742950" lvl="1" indent="-285750" algn="l">
              <a:spcBef>
                <a:spcPts val="300"/>
              </a:spcBef>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Compare and evaluate various other model performance.</a:t>
            </a:r>
          </a:p>
          <a:p>
            <a:pPr marL="742950" lvl="1" indent="-285750" algn="l">
              <a:spcBef>
                <a:spcPts val="300"/>
              </a:spcBef>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Improve model robustness for different conditions.</a:t>
            </a:r>
          </a:p>
          <a:p>
            <a:endParaRPr lang="en-US" sz="2000"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627AF485-460B-084A-9ECA-2C4525327AAA}"/>
              </a:ext>
            </a:extLst>
          </p:cNvPr>
          <p:cNvSpPr>
            <a:spLocks noGrp="1"/>
          </p:cNvSpPr>
          <p:nvPr>
            <p:ph type="title"/>
          </p:nvPr>
        </p:nvSpPr>
        <p:spPr>
          <a:xfrm>
            <a:off x="457200" y="152400"/>
            <a:ext cx="8229600" cy="1143000"/>
          </a:xfrm>
        </p:spPr>
        <p:txBody>
          <a:bodyPr>
            <a:normAutofit/>
          </a:bodyPr>
          <a:lstStyle/>
          <a:p>
            <a:r>
              <a:rPr lang="en-US" sz="4000"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14656203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FE8036-C014-9348-99BA-18F162B956D6}"/>
              </a:ext>
            </a:extLst>
          </p:cNvPr>
          <p:cNvSpPr txBox="1"/>
          <p:nvPr/>
        </p:nvSpPr>
        <p:spPr>
          <a:xfrm>
            <a:off x="609600" y="159643"/>
            <a:ext cx="7924800" cy="6537046"/>
          </a:xfrm>
          <a:prstGeom prst="rect">
            <a:avLst/>
          </a:prstGeom>
          <a:noFill/>
        </p:spPr>
        <p:txBody>
          <a:bodyPr wrap="square" rtlCol="0">
            <a:spAutoFit/>
          </a:bodyPr>
          <a:lstStyle/>
          <a:p>
            <a:r>
              <a:rPr lang="en-IN" dirty="0"/>
              <a:t>                                       </a:t>
            </a:r>
            <a:r>
              <a:rPr lang="en-IN" sz="4000" dirty="0">
                <a:latin typeface="Times New Roman" panose="02020603050405020304" pitchFamily="18" charset="0"/>
                <a:cs typeface="Times New Roman" panose="02020603050405020304" pitchFamily="18" charset="0"/>
              </a:rPr>
              <a:t>REFERENCES</a:t>
            </a:r>
          </a:p>
          <a:p>
            <a:endParaRPr lang="en-IN" sz="2200" b="1" dirty="0">
              <a:latin typeface="Times New Roman" panose="02020603050405020304" pitchFamily="18" charset="0"/>
              <a:cs typeface="Times New Roman" panose="02020603050405020304" pitchFamily="18" charset="0"/>
            </a:endParaRPr>
          </a:p>
          <a:p>
            <a:pPr marL="342900" indent="-342900" algn="just">
              <a:lnSpc>
                <a:spcPct val="150000"/>
              </a:lnSpc>
              <a:buAutoNum type="arabicPeriod"/>
            </a:pPr>
            <a:r>
              <a:rPr lang="en-US" sz="2000" dirty="0">
                <a:latin typeface="Times New Roman" panose="02020603050405020304" pitchFamily="18" charset="0"/>
                <a:cs typeface="Times New Roman" panose="02020603050405020304" pitchFamily="18" charset="0"/>
              </a:rPr>
              <a:t>Automated Car Damage Assessment Using Computer Vision: Insurance Company Use Case : by Sergio A. Pérez-Zarate U, Daniel Corzo-Garcia , Jose L Pro-Martin, Juan A. </a:t>
            </a:r>
            <a:r>
              <a:rPr lang="en-US" sz="2000" dirty="0" err="1">
                <a:latin typeface="Times New Roman" panose="02020603050405020304" pitchFamily="18" charset="0"/>
                <a:cs typeface="Times New Roman" panose="02020603050405020304" pitchFamily="18" charset="0"/>
              </a:rPr>
              <a:t>Ålvarez</a:t>
            </a:r>
            <a:r>
              <a:rPr lang="en-US" sz="2000" dirty="0">
                <a:latin typeface="Times New Roman" panose="02020603050405020304" pitchFamily="18" charset="0"/>
                <a:cs typeface="Times New Roman" panose="02020603050405020304" pitchFamily="18" charset="0"/>
              </a:rPr>
              <a:t>-Garcia 3 Miguel A. Martinez-del-Amor </a:t>
            </a:r>
            <a:r>
              <a:rPr lang="en-US" sz="2000" dirty="0" err="1">
                <a:latin typeface="Times New Roman" panose="02020603050405020304" pitchFamily="18" charset="0"/>
                <a:cs typeface="Times New Roman" panose="02020603050405020304" pitchFamily="18" charset="0"/>
              </a:rPr>
              <a:t>üc</a:t>
            </a:r>
            <a:r>
              <a:rPr lang="en-US" sz="2000" dirty="0">
                <a:latin typeface="Times New Roman" panose="02020603050405020304" pitchFamily="18" charset="0"/>
                <a:cs typeface="Times New Roman" panose="02020603050405020304" pitchFamily="18" charset="0"/>
              </a:rPr>
              <a:t>) and David </a:t>
            </a:r>
            <a:r>
              <a:rPr lang="en-US" sz="2000" dirty="0" err="1">
                <a:latin typeface="Times New Roman" panose="02020603050405020304" pitchFamily="18" charset="0"/>
                <a:cs typeface="Times New Roman" panose="02020603050405020304" pitchFamily="18" charset="0"/>
              </a:rPr>
              <a:t>Femändez</a:t>
            </a:r>
            <a:r>
              <a:rPr lang="en-US" sz="2000" dirty="0">
                <a:latin typeface="Times New Roman" panose="02020603050405020304" pitchFamily="18" charset="0"/>
                <a:cs typeface="Times New Roman" panose="02020603050405020304" pitchFamily="18" charset="0"/>
              </a:rPr>
              <a:t>-Cabrera. </a:t>
            </a:r>
          </a:p>
          <a:p>
            <a:pPr marL="342900" indent="-342900" algn="just">
              <a:lnSpc>
                <a:spcPct val="150000"/>
              </a:lnSpc>
              <a:buAutoNum type="arabicPeriod"/>
            </a:pP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AutoNum type="arabicPeriod"/>
            </a:pPr>
            <a:r>
              <a:rPr lang="en-IN" sz="2000" dirty="0">
                <a:latin typeface="Times New Roman" panose="02020603050405020304" pitchFamily="18" charset="0"/>
                <a:cs typeface="Times New Roman" panose="02020603050405020304" pitchFamily="18" charset="0"/>
              </a:rPr>
              <a:t>AUTOMATED CAR DAMAGE DETECTION AND INSURANCE   CLAIMING USING DEEP LEARNING : Salunke Sayali Anil*1, </a:t>
            </a:r>
            <a:r>
              <a:rPr lang="en-IN" sz="2000" dirty="0" err="1">
                <a:latin typeface="Times New Roman" panose="02020603050405020304" pitchFamily="18" charset="0"/>
                <a:cs typeface="Times New Roman" panose="02020603050405020304" pitchFamily="18" charset="0"/>
              </a:rPr>
              <a:t>Gawali</a:t>
            </a:r>
            <a:r>
              <a:rPr lang="en-IN" sz="2000" dirty="0">
                <a:latin typeface="Times New Roman" panose="02020603050405020304" pitchFamily="18" charset="0"/>
                <a:cs typeface="Times New Roman" panose="02020603050405020304" pitchFamily="18" charset="0"/>
              </a:rPr>
              <a:t> Chaitali Rajendra*2, Shelke Gitanjali Ramesh*3, </a:t>
            </a:r>
            <a:r>
              <a:rPr lang="en-IN" sz="2000" dirty="0" err="1">
                <a:latin typeface="Times New Roman" panose="02020603050405020304" pitchFamily="18" charset="0"/>
                <a:cs typeface="Times New Roman" panose="02020603050405020304" pitchFamily="18" charset="0"/>
              </a:rPr>
              <a:t>Sangle</a:t>
            </a:r>
            <a:r>
              <a:rPr lang="en-IN" sz="2000" dirty="0">
                <a:latin typeface="Times New Roman" panose="02020603050405020304" pitchFamily="18" charset="0"/>
                <a:cs typeface="Times New Roman" panose="02020603050405020304" pitchFamily="18" charset="0"/>
              </a:rPr>
              <a:t> Pratiksha Malhari*4, Shahrukh Shekh*5*1,2,3,4,5Computer Engineering Department, Shri Chhatrapati Shivaji Maharaj College Of Engineering, </a:t>
            </a:r>
            <a:r>
              <a:rPr lang="en-IN" sz="2000" dirty="0" err="1">
                <a:latin typeface="Times New Roman" panose="02020603050405020304" pitchFamily="18" charset="0"/>
                <a:cs typeface="Times New Roman" panose="02020603050405020304" pitchFamily="18" charset="0"/>
              </a:rPr>
              <a:t>Nepti</a:t>
            </a:r>
            <a:r>
              <a:rPr lang="en-IN" sz="2000" dirty="0">
                <a:latin typeface="Times New Roman" panose="02020603050405020304" pitchFamily="18" charset="0"/>
                <a:cs typeface="Times New Roman" panose="02020603050405020304" pitchFamily="18" charset="0"/>
              </a:rPr>
              <a:t>, Ahmednagar, Savitribai Phule Pune University Pune, India.</a:t>
            </a:r>
            <a:endParaRPr lang="en-IN" sz="2000" dirty="0"/>
          </a:p>
        </p:txBody>
      </p:sp>
    </p:spTree>
    <p:extLst>
      <p:ext uri="{BB962C8B-B14F-4D97-AF65-F5344CB8AC3E}">
        <p14:creationId xmlns:p14="http://schemas.microsoft.com/office/powerpoint/2010/main" val="1285721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D5EC27-AC67-0946-F2B4-A6126487CB74}"/>
              </a:ext>
            </a:extLst>
          </p:cNvPr>
          <p:cNvSpPr txBox="1"/>
          <p:nvPr/>
        </p:nvSpPr>
        <p:spPr>
          <a:xfrm>
            <a:off x="457200" y="685800"/>
            <a:ext cx="8458200" cy="4345870"/>
          </a:xfrm>
          <a:prstGeom prst="rect">
            <a:avLst/>
          </a:prstGeom>
          <a:noFill/>
        </p:spPr>
        <p:txBody>
          <a:bodyPr wrap="square" rtlCol="0">
            <a:spAutoFit/>
          </a:bodyPr>
          <a:lstStyle/>
          <a:p>
            <a:pPr algn="just">
              <a:lnSpc>
                <a:spcPct val="150000"/>
              </a:lnSpc>
            </a:pPr>
            <a:r>
              <a:rPr lang="en-IN" dirty="0"/>
              <a:t>3. </a:t>
            </a:r>
            <a:r>
              <a:rPr lang="en-US" sz="2000" dirty="0"/>
              <a:t>Automated Car Damage Assessment Using Computer Vision:</a:t>
            </a:r>
          </a:p>
          <a:p>
            <a:pPr marL="182563" algn="just">
              <a:lnSpc>
                <a:spcPct val="150000"/>
              </a:lnSpc>
            </a:pPr>
            <a:r>
              <a:rPr lang="en-US" sz="2000" dirty="0"/>
              <a:t>Insurance Company Use Case</a:t>
            </a:r>
            <a:r>
              <a:rPr lang="en-IN" sz="2000" dirty="0"/>
              <a:t>: Sergio A. Pérez-Zarate 1,2,* , Daniel Corzo-García 1, Jose L. Pro-Martín 1,2, Juan A. Álvarez-García 3 ,</a:t>
            </a:r>
          </a:p>
          <a:p>
            <a:pPr marL="182563" algn="just">
              <a:lnSpc>
                <a:spcPct val="150000"/>
              </a:lnSpc>
            </a:pPr>
            <a:r>
              <a:rPr lang="en-IN" sz="2000" dirty="0"/>
              <a:t>Miguel A. Martínez-del-Amor 2,4 and David Fernández-Cabrera 1</a:t>
            </a:r>
          </a:p>
          <a:p>
            <a:pPr marL="182563" algn="just">
              <a:lnSpc>
                <a:spcPct val="150000"/>
              </a:lnSpc>
            </a:pPr>
            <a:endParaRPr lang="en-IN" sz="2000" dirty="0"/>
          </a:p>
          <a:p>
            <a:pPr algn="just"/>
            <a:r>
              <a:rPr lang="en-US" sz="2000" dirty="0">
                <a:latin typeface="Times New Roman" panose="02020603050405020304" pitchFamily="18" charset="0"/>
                <a:cs typeface="Times New Roman" panose="02020603050405020304" pitchFamily="18" charset="0"/>
              </a:rPr>
              <a:t>4. Vehicle Damage Detection Using Machine Learning and Segmentation to Aid Insurance Claims</a:t>
            </a:r>
          </a:p>
          <a:p>
            <a:pPr algn="just"/>
            <a:r>
              <a:rPr lang="en-IN" sz="2000" dirty="0"/>
              <a:t>DOI:</a:t>
            </a:r>
            <a:r>
              <a:rPr lang="en-IN" sz="2000" u="sng" dirty="0">
                <a:hlinkClick r:id="rId2"/>
              </a:rPr>
              <a:t>10.1109/INDICON59947.2023.10440856</a:t>
            </a:r>
            <a:endParaRPr lang="en-IN" sz="2000" u="sng" dirty="0"/>
          </a:p>
          <a:p>
            <a:pPr algn="just"/>
            <a:r>
              <a:rPr lang="en-IN" sz="2000" dirty="0">
                <a:latin typeface="Times New Roman" panose="02020603050405020304" pitchFamily="18" charset="0"/>
                <a:cs typeface="Times New Roman" panose="02020603050405020304" pitchFamily="18" charset="0"/>
              </a:rPr>
              <a:t>by Mohit Venkatesh, Rishabh Oruganti, Shreyas A Katti, Karpagavalli Subramanian</a:t>
            </a:r>
            <a:endParaRPr lang="en-US" sz="2000" dirty="0">
              <a:latin typeface="Times New Roman" panose="02020603050405020304" pitchFamily="18" charset="0"/>
              <a:cs typeface="Times New Roman" panose="02020603050405020304" pitchFamily="18" charset="0"/>
            </a:endParaRPr>
          </a:p>
          <a:p>
            <a:pPr marL="182563" algn="just">
              <a:lnSpc>
                <a:spcPct val="150000"/>
              </a:lnSpc>
            </a:pP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20454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DBA6DA-391B-59B1-92FD-D0498F7F3686}"/>
              </a:ext>
            </a:extLst>
          </p:cNvPr>
          <p:cNvSpPr txBox="1"/>
          <p:nvPr/>
        </p:nvSpPr>
        <p:spPr>
          <a:xfrm>
            <a:off x="533400" y="457201"/>
            <a:ext cx="6324600" cy="2535566"/>
          </a:xfrm>
          <a:prstGeom prst="rect">
            <a:avLst/>
          </a:prstGeom>
          <a:noFill/>
        </p:spPr>
        <p:txBody>
          <a:bodyPr wrap="square">
            <a:spAutoFit/>
          </a:bodyPr>
          <a:lstStyle/>
          <a:p>
            <a:pPr algn="just">
              <a:lnSpc>
                <a:spcPct val="150000"/>
              </a:lnSpc>
            </a:pPr>
            <a:r>
              <a:rPr lang="en-IN" sz="1800" dirty="0"/>
              <a:t>5. </a:t>
            </a:r>
            <a:r>
              <a:rPr lang="en-IN" sz="1800" dirty="0">
                <a:latin typeface="Times New Roman" panose="02020603050405020304" pitchFamily="18" charset="0"/>
                <a:cs typeface="Times New Roman" panose="02020603050405020304" pitchFamily="18" charset="0"/>
              </a:rPr>
              <a:t>Enhancing Object Detection Accuracy in Autonomous Vehicles Using Synthetic Data Sergei Voronin Wellington Institute of Technology Wellington, New Zealand Abubakar Siddique Wellington Institute of Technology Wellington, New Zealand Muhammad Iqbal Higher Colleges of Technology Fujairah, United Arab Emirates</a:t>
            </a:r>
          </a:p>
        </p:txBody>
      </p:sp>
    </p:spTree>
    <p:extLst>
      <p:ext uri="{BB962C8B-B14F-4D97-AF65-F5344CB8AC3E}">
        <p14:creationId xmlns:p14="http://schemas.microsoft.com/office/powerpoint/2010/main" val="34746140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B9DF-AEDE-F80F-6FEC-7DD661EFBEE7}"/>
              </a:ext>
            </a:extLst>
          </p:cNvPr>
          <p:cNvSpPr>
            <a:spLocks noGrp="1"/>
          </p:cNvSpPr>
          <p:nvPr>
            <p:ph type="title"/>
          </p:nvPr>
        </p:nvSpPr>
        <p:spPr>
          <a:xfrm>
            <a:off x="457200" y="2857500"/>
            <a:ext cx="8229600" cy="1143000"/>
          </a:xfrm>
        </p:spPr>
        <p:txBody>
          <a:bodyPr/>
          <a:lstStyle/>
          <a:p>
            <a:r>
              <a:rPr lang="en-IN" dirty="0"/>
              <a:t>THANK YOU</a:t>
            </a:r>
          </a:p>
        </p:txBody>
      </p:sp>
    </p:spTree>
    <p:extLst>
      <p:ext uri="{BB962C8B-B14F-4D97-AF65-F5344CB8AC3E}">
        <p14:creationId xmlns:p14="http://schemas.microsoft.com/office/powerpoint/2010/main" val="11589090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1750</TotalTime>
  <Words>3105</Words>
  <Application>Microsoft Office PowerPoint</Application>
  <PresentationFormat>On-screen Show (4:3)</PresentationFormat>
  <Paragraphs>187</Paragraphs>
  <Slides>29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Book Antiqua</vt:lpstr>
      <vt:lpstr>Calibri</vt:lpstr>
      <vt:lpstr>Courier New</vt:lpstr>
      <vt:lpstr>Times New Roman</vt:lpstr>
      <vt:lpstr>Wingdings</vt:lpstr>
      <vt:lpstr>Office Theme</vt:lpstr>
      <vt:lpstr>PowerPoint Presentation</vt:lpstr>
      <vt:lpstr> CONTENTS </vt:lpstr>
      <vt:lpstr>ABSTRACT</vt:lpstr>
      <vt:lpstr>INTRODUCTION</vt:lpstr>
      <vt:lpstr>PowerPoint Presentation</vt:lpstr>
      <vt:lpstr>SYSTEM REQUIREMENT</vt:lpstr>
      <vt:lpstr>LITERATURE SURVEY</vt:lpstr>
      <vt:lpstr>PowerPoint Presentation</vt:lpstr>
      <vt:lpstr>PowerPoint Presentation</vt:lpstr>
      <vt:lpstr>PowerPoint Presentation</vt:lpstr>
      <vt:lpstr>PowerPoint Presentation</vt:lpstr>
      <vt:lpstr>EXISTING SYSTEM</vt:lpstr>
      <vt:lpstr>PowerPoint Presentation</vt:lpstr>
      <vt:lpstr>PowerPoint Presentation</vt:lpstr>
      <vt:lpstr>PowerPoint Presentation</vt:lpstr>
      <vt:lpstr>PROPOSED SYSTEM</vt:lpstr>
      <vt:lpstr>PowerPoint Presentation</vt:lpstr>
      <vt:lpstr>Architecture Diagram </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Admin1</dc:creator>
  <cp:lastModifiedBy>Mahanidhi G K</cp:lastModifiedBy>
  <cp:revision>53</cp:revision>
  <dcterms:created xsi:type="dcterms:W3CDTF">2020-04-08T03:49:03Z</dcterms:created>
  <dcterms:modified xsi:type="dcterms:W3CDTF">2026-04-27T08:04:01Z</dcterms:modified>
</cp:coreProperties>
</file>